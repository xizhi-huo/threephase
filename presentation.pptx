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56" r:id="rId4"/>
    <p:sldId id="257" r:id="rId5"/>
    <p:sldId id="258" r:id="rId6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82"/>
  </p:normalViewPr>
  <p:slideViewPr>
    <p:cSldViewPr snapToGrid="0">
      <p:cViewPr varScale="1">
        <p:scale>
          <a:sx n="75" d="100"/>
          <a:sy n="75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FA72622D-BF5F-4718-9330-61CB8CE0349B}"/>
              </a:ext>
            </a:extLst>
          </p:cNvPr>
          <p:cNvSpPr>
            <a:spLocks noGrp="1"/>
          </p:cNvSpPr>
          <p:nvPr/>
        </p:nvSpPr>
        <p:spPr>
          <a:xfrm>
            <a:off x="0" y="342900"/>
            <a:ext cx="18288000" cy="10287000"/>
          </a:xfrm>
          <a:prstGeom prst="rect">
            <a:avLst/>
          </a:prstGeom>
          <a:solidFill>
            <a:srgbClr val="F5F7F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CBF56F-AF9C-42FF-A555-DCD363F5C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04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004C2B-02FD-48D4-BA7A-72B601EE8A03}"/>
              </a:ext>
            </a:extLst>
          </p:cNvPr>
          <p:cNvSpPr>
            <a:spLocks noGrp="1"/>
          </p:cNvSpPr>
          <p:nvPr/>
        </p:nvSpPr>
        <p:spPr>
          <a:xfrm>
            <a:off x="0" y="1085850"/>
            <a:ext cx="18288000" cy="19050"/>
          </a:xfrm>
          <a:prstGeom prst="rect">
            <a:avLst/>
          </a:prstGeom>
          <a:solidFill>
            <a:srgbClr val="D8E2F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9C5CF6-1B80-4CBD-B1C6-F941F2AC532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33350" cy="514350"/>
          </a:xfrm>
          <a:prstGeom prst="roundRect">
            <a:avLst>
              <a:gd name="adj" fmla="val 50000"/>
            </a:avLst>
          </a:prstGeom>
          <a:solidFill>
            <a:srgbClr val="2456D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lide-5-title">
            <a:extLst>
              <a:ext uri="{FF2B5EF4-FFF2-40B4-BE49-F238E27FC236}">
                <a16:creationId xmlns:a16="http://schemas.microsoft.com/office/drawing/2014/main" id="{FA8CC295-13AB-422C-B1CC-9DEE24D4C35F}"/>
              </a:ext>
            </a:extLst>
          </p:cNvPr>
          <p:cNvSpPr>
            <a:spLocks noGrp="1"/>
          </p:cNvSpPr>
          <p:nvPr/>
        </p:nvSpPr>
        <p:spPr>
          <a:xfrm>
            <a:off x="876300" y="247650"/>
            <a:ext cx="11239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实时波形与同期判定</a:t>
            </a:r>
          </a:p>
        </p:txBody>
      </p:sp>
      <p:sp>
        <p:nvSpPr>
          <p:cNvPr id="6" name="slide-5-subtitle">
            <a:extLst>
              <a:ext uri="{FF2B5EF4-FFF2-40B4-BE49-F238E27FC236}">
                <a16:creationId xmlns:a16="http://schemas.microsoft.com/office/drawing/2014/main" id="{ACDCB4A2-A8F1-461D-97DE-B19562A3CFDC}"/>
              </a:ext>
            </a:extLst>
          </p:cNvPr>
          <p:cNvSpPr>
            <a:spLocks noGrp="1"/>
          </p:cNvSpPr>
          <p:nvPr/>
        </p:nvSpPr>
        <p:spPr>
          <a:xfrm>
            <a:off x="895350" y="704850"/>
            <a:ext cx="1066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展示三相实时波形、母线总览、相量图和同期条件，辅助判断是否满足合闸要求。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219DCE2-8094-4DFC-BDBF-96D7FD5BB758}"/>
              </a:ext>
            </a:extLst>
          </p:cNvPr>
          <p:cNvSpPr>
            <a:spLocks noGrp="1"/>
          </p:cNvSpPr>
          <p:nvPr/>
        </p:nvSpPr>
        <p:spPr>
          <a:xfrm>
            <a:off x="16287750" y="342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EEF4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lide-5-counter">
            <a:extLst>
              <a:ext uri="{FF2B5EF4-FFF2-40B4-BE49-F238E27FC236}">
                <a16:creationId xmlns:a16="http://schemas.microsoft.com/office/drawing/2014/main" id="{7B5ACC1D-47A0-48EF-92BA-63AFE7100C9D}"/>
              </a:ext>
            </a:extLst>
          </p:cNvPr>
          <p:cNvSpPr>
            <a:spLocks noGrp="1"/>
          </p:cNvSpPr>
          <p:nvPr/>
        </p:nvSpPr>
        <p:spPr>
          <a:xfrm>
            <a:off x="16611600" y="4191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56D6"/>
                </a:solidFill>
              </a:defRPr>
            </a:pPr>
            <a:r>
              <a:rPr lang="en-US" altLang="zh-CN" sz="1500" b="1" dirty="0">
                <a:solidFill>
                  <a:srgbClr val="2456D6"/>
                </a:solidFill>
              </a:rPr>
              <a:t>1</a:t>
            </a:r>
            <a:r>
              <a:rPr sz="1500" b="1" dirty="0">
                <a:solidFill>
                  <a:srgbClr val="2456D6"/>
                </a:solidFill>
              </a:rPr>
              <a:t> / 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436920E-54F8-4DA1-A84D-BCB7376FBDC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582400" cy="868680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190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410885"/>
            <a:ext cx="11353800" cy="8455831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BBAE14F1-1BE2-405B-ADE6-616D3936213C}"/>
              </a:ext>
            </a:extLst>
          </p:cNvPr>
          <p:cNvSpPr>
            <a:spLocks noGrp="1"/>
          </p:cNvSpPr>
          <p:nvPr/>
        </p:nvSpPr>
        <p:spPr>
          <a:xfrm>
            <a:off x="657225" y="242887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highlight-1">
            <a:extLst>
              <a:ext uri="{FF2B5EF4-FFF2-40B4-BE49-F238E27FC236}">
                <a16:creationId xmlns:a16="http://schemas.microsoft.com/office/drawing/2014/main" id="{0ACD5093-59B7-4DC0-A8A8-4247E98AA844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42EAEFB-0D2C-4F36-930B-3EC4177B3EDD}"/>
              </a:ext>
            </a:extLst>
          </p:cNvPr>
          <p:cNvSpPr>
            <a:spLocks noGrp="1"/>
          </p:cNvSpPr>
          <p:nvPr/>
        </p:nvSpPr>
        <p:spPr>
          <a:xfrm>
            <a:off x="657225" y="37909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highlight-2">
            <a:extLst>
              <a:ext uri="{FF2B5EF4-FFF2-40B4-BE49-F238E27FC236}">
                <a16:creationId xmlns:a16="http://schemas.microsoft.com/office/drawing/2014/main" id="{60F4BE59-A0C4-4D32-B491-9A8C429E7E9D}"/>
              </a:ext>
            </a:extLst>
          </p:cNvPr>
          <p:cNvSpPr>
            <a:spLocks noGrp="1"/>
          </p:cNvSpPr>
          <p:nvPr/>
        </p:nvSpPr>
        <p:spPr>
          <a:xfrm>
            <a:off x="762000" y="3829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E58F41B-7C3F-4D38-BFBF-BD9864A84AA7}"/>
              </a:ext>
            </a:extLst>
          </p:cNvPr>
          <p:cNvSpPr>
            <a:spLocks noGrp="1"/>
          </p:cNvSpPr>
          <p:nvPr/>
        </p:nvSpPr>
        <p:spPr>
          <a:xfrm>
            <a:off x="7267575" y="37909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highlight-3">
            <a:extLst>
              <a:ext uri="{FF2B5EF4-FFF2-40B4-BE49-F238E27FC236}">
                <a16:creationId xmlns:a16="http://schemas.microsoft.com/office/drawing/2014/main" id="{7E23AE2B-5510-471C-BC6D-C57CF4D40B49}"/>
              </a:ext>
            </a:extLst>
          </p:cNvPr>
          <p:cNvSpPr>
            <a:spLocks noGrp="1"/>
          </p:cNvSpPr>
          <p:nvPr/>
        </p:nvSpPr>
        <p:spPr>
          <a:xfrm>
            <a:off x="7372350" y="3829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75BF24C-E4DA-4F40-9115-B4A8F0B4DDBE}"/>
              </a:ext>
            </a:extLst>
          </p:cNvPr>
          <p:cNvSpPr>
            <a:spLocks noGrp="1"/>
          </p:cNvSpPr>
          <p:nvPr/>
        </p:nvSpPr>
        <p:spPr>
          <a:xfrm>
            <a:off x="7267575" y="635317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ighlight-4">
            <a:extLst>
              <a:ext uri="{FF2B5EF4-FFF2-40B4-BE49-F238E27FC236}">
                <a16:creationId xmlns:a16="http://schemas.microsoft.com/office/drawing/2014/main" id="{2C615750-BC0B-4853-9EEA-80245305227F}"/>
              </a:ext>
            </a:extLst>
          </p:cNvPr>
          <p:cNvSpPr>
            <a:spLocks noGrp="1"/>
          </p:cNvSpPr>
          <p:nvPr/>
        </p:nvSpPr>
        <p:spPr>
          <a:xfrm>
            <a:off x="7372350" y="6400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4C3C62F-1348-4C17-AA6F-54C9ABBD8961}"/>
              </a:ext>
            </a:extLst>
          </p:cNvPr>
          <p:cNvSpPr>
            <a:spLocks noGrp="1"/>
          </p:cNvSpPr>
          <p:nvPr/>
        </p:nvSpPr>
        <p:spPr>
          <a:xfrm>
            <a:off x="657225" y="698182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highlight-5">
            <a:extLst>
              <a:ext uri="{FF2B5EF4-FFF2-40B4-BE49-F238E27FC236}">
                <a16:creationId xmlns:a16="http://schemas.microsoft.com/office/drawing/2014/main" id="{48CDDC7F-225E-49F8-BB65-F706701005E8}"/>
              </a:ext>
            </a:extLst>
          </p:cNvPr>
          <p:cNvSpPr>
            <a:spLocks noGrp="1"/>
          </p:cNvSpPr>
          <p:nvPr/>
        </p:nvSpPr>
        <p:spPr>
          <a:xfrm>
            <a:off x="762000" y="7029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callout-heading">
            <a:extLst>
              <a:ext uri="{FF2B5EF4-FFF2-40B4-BE49-F238E27FC236}">
                <a16:creationId xmlns:a16="http://schemas.microsoft.com/office/drawing/2014/main" id="{396A9D31-32B7-4AF9-A05E-D5BC5F223766}"/>
              </a:ext>
            </a:extLst>
          </p:cNvPr>
          <p:cNvSpPr>
            <a:spLocks noGrp="1"/>
          </p:cNvSpPr>
          <p:nvPr/>
        </p:nvSpPr>
        <p:spPr>
          <a:xfrm>
            <a:off x="12573000" y="139065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rPr sz="1800" b="1">
                <a:solidFill>
                  <a:srgbClr val="E11D48"/>
                </a:solidFill>
              </a:rPr>
              <a:t>圈注说明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95F64C8F-ECFC-41C9-93BC-90837410EA71}"/>
              </a:ext>
            </a:extLst>
          </p:cNvPr>
          <p:cNvSpPr>
            <a:spLocks noGrp="1"/>
          </p:cNvSpPr>
          <p:nvPr/>
        </p:nvSpPr>
        <p:spPr>
          <a:xfrm>
            <a:off x="12573000" y="179070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3268B4E-697D-49E6-B546-05FC15D76387}"/>
              </a:ext>
            </a:extLst>
          </p:cNvPr>
          <p:cNvSpPr>
            <a:spLocks noGrp="1"/>
          </p:cNvSpPr>
          <p:nvPr/>
        </p:nvSpPr>
        <p:spPr>
          <a:xfrm>
            <a:off x="12744450" y="19812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allout-1-number">
            <a:extLst>
              <a:ext uri="{FF2B5EF4-FFF2-40B4-BE49-F238E27FC236}">
                <a16:creationId xmlns:a16="http://schemas.microsoft.com/office/drawing/2014/main" id="{3074C642-FEEC-4205-A5D1-2F2AFE0C6B41}"/>
              </a:ext>
            </a:extLst>
          </p:cNvPr>
          <p:cNvSpPr>
            <a:spLocks noGrp="1"/>
          </p:cNvSpPr>
          <p:nvPr/>
        </p:nvSpPr>
        <p:spPr>
          <a:xfrm>
            <a:off x="12839700" y="2019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callout-1-title">
            <a:extLst>
              <a:ext uri="{FF2B5EF4-FFF2-40B4-BE49-F238E27FC236}">
                <a16:creationId xmlns:a16="http://schemas.microsoft.com/office/drawing/2014/main" id="{597D2880-9001-4762-A8C2-75BCAD68D51E}"/>
              </a:ext>
            </a:extLst>
          </p:cNvPr>
          <p:cNvSpPr>
            <a:spLocks noGrp="1"/>
          </p:cNvSpPr>
          <p:nvPr/>
        </p:nvSpPr>
        <p:spPr>
          <a:xfrm>
            <a:off x="13220700" y="19621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顶部状态卡</a:t>
            </a:r>
          </a:p>
        </p:txBody>
      </p:sp>
      <p:sp>
        <p:nvSpPr>
          <p:cNvPr id="31" name="callout-1-body">
            <a:extLst>
              <a:ext uri="{FF2B5EF4-FFF2-40B4-BE49-F238E27FC236}">
                <a16:creationId xmlns:a16="http://schemas.microsoft.com/office/drawing/2014/main" id="{6CD3EF60-590C-466F-8331-57D611DEBD64}"/>
              </a:ext>
            </a:extLst>
          </p:cNvPr>
          <p:cNvSpPr>
            <a:spLocks noGrp="1"/>
          </p:cNvSpPr>
          <p:nvPr/>
        </p:nvSpPr>
        <p:spPr>
          <a:xfrm>
            <a:off x="13220700" y="2305050"/>
            <a:ext cx="41148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>
                <a:solidFill>
                  <a:srgbClr val="50617A"/>
                </a:solidFill>
              </a:rPr>
              <a:t>汇总母排、参考基准、G1/G2 </a:t>
            </a:r>
            <a:r>
              <a:rPr sz="1275" dirty="0" err="1">
                <a:solidFill>
                  <a:srgbClr val="50617A"/>
                </a:solidFill>
              </a:rPr>
              <a:t>组合方式和同期判定状态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6792F6C-AD87-4CFB-8684-A8D7939BB256}"/>
              </a:ext>
            </a:extLst>
          </p:cNvPr>
          <p:cNvSpPr>
            <a:spLocks noGrp="1"/>
          </p:cNvSpPr>
          <p:nvPr/>
        </p:nvSpPr>
        <p:spPr>
          <a:xfrm>
            <a:off x="12573000" y="318135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66366BC-4D1C-47B5-9DCB-0336ACF5EC5D}"/>
              </a:ext>
            </a:extLst>
          </p:cNvPr>
          <p:cNvSpPr>
            <a:spLocks noGrp="1"/>
          </p:cNvSpPr>
          <p:nvPr/>
        </p:nvSpPr>
        <p:spPr>
          <a:xfrm>
            <a:off x="12744450" y="33718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callout-2-number">
            <a:extLst>
              <a:ext uri="{FF2B5EF4-FFF2-40B4-BE49-F238E27FC236}">
                <a16:creationId xmlns:a16="http://schemas.microsoft.com/office/drawing/2014/main" id="{B7417C2F-45BD-4F41-9482-9FDEDF769626}"/>
              </a:ext>
            </a:extLst>
          </p:cNvPr>
          <p:cNvSpPr>
            <a:spLocks noGrp="1"/>
          </p:cNvSpPr>
          <p:nvPr/>
        </p:nvSpPr>
        <p:spPr>
          <a:xfrm>
            <a:off x="12839700" y="34099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callout-2-title">
            <a:extLst>
              <a:ext uri="{FF2B5EF4-FFF2-40B4-BE49-F238E27FC236}">
                <a16:creationId xmlns:a16="http://schemas.microsoft.com/office/drawing/2014/main" id="{2912BE5E-8102-42AA-A92A-A95E659EF16D}"/>
              </a:ext>
            </a:extLst>
          </p:cNvPr>
          <p:cNvSpPr>
            <a:spLocks noGrp="1"/>
          </p:cNvSpPr>
          <p:nvPr/>
        </p:nvSpPr>
        <p:spPr>
          <a:xfrm>
            <a:off x="13220700" y="335280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三相实时波形</a:t>
            </a:r>
          </a:p>
        </p:txBody>
      </p:sp>
      <p:sp>
        <p:nvSpPr>
          <p:cNvPr id="36" name="callout-2-body">
            <a:extLst>
              <a:ext uri="{FF2B5EF4-FFF2-40B4-BE49-F238E27FC236}">
                <a16:creationId xmlns:a16="http://schemas.microsoft.com/office/drawing/2014/main" id="{6C764FBF-ABF0-4770-8A25-5758B152871B}"/>
              </a:ext>
            </a:extLst>
          </p:cNvPr>
          <p:cNvSpPr>
            <a:spLocks noGrp="1"/>
          </p:cNvSpPr>
          <p:nvPr/>
        </p:nvSpPr>
        <p:spPr>
          <a:xfrm>
            <a:off x="13220700" y="369570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观察</a:t>
            </a:r>
            <a:r>
              <a:rPr sz="1275" dirty="0">
                <a:solidFill>
                  <a:srgbClr val="50617A"/>
                </a:solidFill>
              </a:rPr>
              <a:t> A/B/C </a:t>
            </a:r>
            <a:r>
              <a:rPr sz="1275" dirty="0" err="1">
                <a:solidFill>
                  <a:srgbClr val="50617A"/>
                </a:solidFill>
              </a:rPr>
              <a:t>相电压曲线，判断波形是否稳定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BD085643-77C0-4173-96F0-7E6A940B7D38}"/>
              </a:ext>
            </a:extLst>
          </p:cNvPr>
          <p:cNvSpPr>
            <a:spLocks noGrp="1"/>
          </p:cNvSpPr>
          <p:nvPr/>
        </p:nvSpPr>
        <p:spPr>
          <a:xfrm>
            <a:off x="12573000" y="457200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C34B308-8DEF-471C-AE6A-672C4A2A6A51}"/>
              </a:ext>
            </a:extLst>
          </p:cNvPr>
          <p:cNvSpPr>
            <a:spLocks noGrp="1"/>
          </p:cNvSpPr>
          <p:nvPr/>
        </p:nvSpPr>
        <p:spPr>
          <a:xfrm>
            <a:off x="12744450" y="47625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callout-3-number">
            <a:extLst>
              <a:ext uri="{FF2B5EF4-FFF2-40B4-BE49-F238E27FC236}">
                <a16:creationId xmlns:a16="http://schemas.microsoft.com/office/drawing/2014/main" id="{13DE46F1-94F8-458E-B26F-AAD00BF74CC1}"/>
              </a:ext>
            </a:extLst>
          </p:cNvPr>
          <p:cNvSpPr>
            <a:spLocks noGrp="1"/>
          </p:cNvSpPr>
          <p:nvPr/>
        </p:nvSpPr>
        <p:spPr>
          <a:xfrm>
            <a:off x="12839700" y="4800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callout-3-title">
            <a:extLst>
              <a:ext uri="{FF2B5EF4-FFF2-40B4-BE49-F238E27FC236}">
                <a16:creationId xmlns:a16="http://schemas.microsoft.com/office/drawing/2014/main" id="{6DC8BAED-ECA5-4C75-8250-8D3F8CD0CA2A}"/>
              </a:ext>
            </a:extLst>
          </p:cNvPr>
          <p:cNvSpPr>
            <a:spLocks noGrp="1"/>
          </p:cNvSpPr>
          <p:nvPr/>
        </p:nvSpPr>
        <p:spPr>
          <a:xfrm>
            <a:off x="13220700" y="47434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相量图</a:t>
            </a:r>
          </a:p>
        </p:txBody>
      </p:sp>
      <p:sp>
        <p:nvSpPr>
          <p:cNvPr id="41" name="callout-3-body">
            <a:extLst>
              <a:ext uri="{FF2B5EF4-FFF2-40B4-BE49-F238E27FC236}">
                <a16:creationId xmlns:a16="http://schemas.microsoft.com/office/drawing/2014/main" id="{4040F703-EB27-4352-B42D-D19E133037F0}"/>
              </a:ext>
            </a:extLst>
          </p:cNvPr>
          <p:cNvSpPr>
            <a:spLocks noGrp="1"/>
          </p:cNvSpPr>
          <p:nvPr/>
        </p:nvSpPr>
        <p:spPr>
          <a:xfrm>
            <a:off x="13220700" y="508635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用相量关系辅助比较相位角，发现相序或相角异常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6BC7F7B8-6F1B-4A0E-822D-462F675DC765}"/>
              </a:ext>
            </a:extLst>
          </p:cNvPr>
          <p:cNvSpPr>
            <a:spLocks noGrp="1"/>
          </p:cNvSpPr>
          <p:nvPr/>
        </p:nvSpPr>
        <p:spPr>
          <a:xfrm>
            <a:off x="12573000" y="596265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36C9061-5F62-43D4-9680-DCC4E9AA972F}"/>
              </a:ext>
            </a:extLst>
          </p:cNvPr>
          <p:cNvSpPr>
            <a:spLocks noGrp="1"/>
          </p:cNvSpPr>
          <p:nvPr/>
        </p:nvSpPr>
        <p:spPr>
          <a:xfrm>
            <a:off x="12744450" y="61531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allout-4-number">
            <a:extLst>
              <a:ext uri="{FF2B5EF4-FFF2-40B4-BE49-F238E27FC236}">
                <a16:creationId xmlns:a16="http://schemas.microsoft.com/office/drawing/2014/main" id="{AFD667E2-A0A6-4E53-9FDA-50690FE144F3}"/>
              </a:ext>
            </a:extLst>
          </p:cNvPr>
          <p:cNvSpPr>
            <a:spLocks noGrp="1"/>
          </p:cNvSpPr>
          <p:nvPr/>
        </p:nvSpPr>
        <p:spPr>
          <a:xfrm>
            <a:off x="12839700" y="61912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callout-4-title">
            <a:extLst>
              <a:ext uri="{FF2B5EF4-FFF2-40B4-BE49-F238E27FC236}">
                <a16:creationId xmlns:a16="http://schemas.microsoft.com/office/drawing/2014/main" id="{0782F5D4-5E15-4164-AC8A-020C16E50775}"/>
              </a:ext>
            </a:extLst>
          </p:cNvPr>
          <p:cNvSpPr>
            <a:spLocks noGrp="1"/>
          </p:cNvSpPr>
          <p:nvPr/>
        </p:nvSpPr>
        <p:spPr>
          <a:xfrm>
            <a:off x="13220700" y="613410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同期判定面板</a:t>
            </a:r>
          </a:p>
        </p:txBody>
      </p:sp>
      <p:sp>
        <p:nvSpPr>
          <p:cNvPr id="46" name="callout-4-body">
            <a:extLst>
              <a:ext uri="{FF2B5EF4-FFF2-40B4-BE49-F238E27FC236}">
                <a16:creationId xmlns:a16="http://schemas.microsoft.com/office/drawing/2014/main" id="{5730E08E-E56C-461E-834E-003D80504EB0}"/>
              </a:ext>
            </a:extLst>
          </p:cNvPr>
          <p:cNvSpPr>
            <a:spLocks noGrp="1"/>
          </p:cNvSpPr>
          <p:nvPr/>
        </p:nvSpPr>
        <p:spPr>
          <a:xfrm>
            <a:off x="13220700" y="647700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列出频差、压差、相角差等同期条件是否满足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CD94361E-6DF1-4FD7-B252-79F80339FA8F}"/>
              </a:ext>
            </a:extLst>
          </p:cNvPr>
          <p:cNvSpPr>
            <a:spLocks noGrp="1"/>
          </p:cNvSpPr>
          <p:nvPr/>
        </p:nvSpPr>
        <p:spPr>
          <a:xfrm>
            <a:off x="12573000" y="735330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2C51644-AE18-468A-800D-B45CF61F0DBA}"/>
              </a:ext>
            </a:extLst>
          </p:cNvPr>
          <p:cNvSpPr>
            <a:spLocks noGrp="1"/>
          </p:cNvSpPr>
          <p:nvPr/>
        </p:nvSpPr>
        <p:spPr>
          <a:xfrm>
            <a:off x="12744450" y="75438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callout-5-number">
            <a:extLst>
              <a:ext uri="{FF2B5EF4-FFF2-40B4-BE49-F238E27FC236}">
                <a16:creationId xmlns:a16="http://schemas.microsoft.com/office/drawing/2014/main" id="{43E5FBA6-028B-4245-9C47-9FAB5FC23212}"/>
              </a:ext>
            </a:extLst>
          </p:cNvPr>
          <p:cNvSpPr>
            <a:spLocks noGrp="1"/>
          </p:cNvSpPr>
          <p:nvPr/>
        </p:nvSpPr>
        <p:spPr>
          <a:xfrm>
            <a:off x="1283970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callout-5-title">
            <a:extLst>
              <a:ext uri="{FF2B5EF4-FFF2-40B4-BE49-F238E27FC236}">
                <a16:creationId xmlns:a16="http://schemas.microsoft.com/office/drawing/2014/main" id="{1C4229ED-3F3C-4C35-AE8E-E54556B21A2F}"/>
              </a:ext>
            </a:extLst>
          </p:cNvPr>
          <p:cNvSpPr>
            <a:spLocks noGrp="1"/>
          </p:cNvSpPr>
          <p:nvPr/>
        </p:nvSpPr>
        <p:spPr>
          <a:xfrm>
            <a:off x="13220700" y="75247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母线总览</a:t>
            </a:r>
          </a:p>
        </p:txBody>
      </p:sp>
      <p:sp>
        <p:nvSpPr>
          <p:cNvPr id="51" name="callout-5-body">
            <a:extLst>
              <a:ext uri="{FF2B5EF4-FFF2-40B4-BE49-F238E27FC236}">
                <a16:creationId xmlns:a16="http://schemas.microsoft.com/office/drawing/2014/main" id="{ACF2CCFF-1EA8-45B8-BBD0-68BBADDBA54C}"/>
              </a:ext>
            </a:extLst>
          </p:cNvPr>
          <p:cNvSpPr>
            <a:spLocks noGrp="1"/>
          </p:cNvSpPr>
          <p:nvPr/>
        </p:nvSpPr>
        <p:spPr>
          <a:xfrm>
            <a:off x="13220700" y="786765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单独保留母线三相趋势，作为二级趋势参考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A872A44-D003-4B5B-A42D-EB64BABF8893}"/>
              </a:ext>
            </a:extLst>
          </p:cNvPr>
          <p:cNvSpPr>
            <a:spLocks noGrp="1"/>
          </p:cNvSpPr>
          <p:nvPr/>
        </p:nvSpPr>
        <p:spPr>
          <a:xfrm>
            <a:off x="0" y="9963150"/>
            <a:ext cx="18288000" cy="323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footer">
            <a:extLst>
              <a:ext uri="{FF2B5EF4-FFF2-40B4-BE49-F238E27FC236}">
                <a16:creationId xmlns:a16="http://schemas.microsoft.com/office/drawing/2014/main" id="{53E2B65A-8872-4C57-A7CA-850CA9E9AC05}"/>
              </a:ext>
            </a:extLst>
          </p:cNvPr>
          <p:cNvSpPr>
            <a:spLocks noGrp="1"/>
          </p:cNvSpPr>
          <p:nvPr/>
        </p:nvSpPr>
        <p:spPr>
          <a:xfrm>
            <a:off x="685800" y="100393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三相并网仿真教学系统界面介绍</a:t>
            </a:r>
          </a:p>
        </p:txBody>
      </p:sp>
    </p:spTree>
    <p:extLst>
      <p:ext uri="{BB962C8B-B14F-4D97-AF65-F5344CB8AC3E}">
        <p14:creationId xmlns:p14="http://schemas.microsoft.com/office/powerpoint/2010/main" val="79019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A49FE16D-391F-45DC-B8FE-2A7574DE7D10}"/>
              </a:ext>
            </a:extLst>
          </p:cNvPr>
          <p:cNvSpPr>
            <a:spLocks noGrp="1"/>
          </p:cNvSpPr>
          <p:nvPr/>
        </p:nvSpPr>
        <p:spPr>
          <a:xfrm>
            <a:off x="0" y="367393"/>
            <a:ext cx="18288000" cy="10287000"/>
          </a:xfrm>
          <a:prstGeom prst="rect">
            <a:avLst/>
          </a:prstGeom>
          <a:solidFill>
            <a:srgbClr val="F5F7F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4ED8C9-2B19-440A-AF6B-13E6242033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04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E813F3-D737-4851-B9E3-84B14AE4868E}"/>
              </a:ext>
            </a:extLst>
          </p:cNvPr>
          <p:cNvSpPr>
            <a:spLocks noGrp="1"/>
          </p:cNvSpPr>
          <p:nvPr/>
        </p:nvSpPr>
        <p:spPr>
          <a:xfrm>
            <a:off x="0" y="1085850"/>
            <a:ext cx="18288000" cy="19050"/>
          </a:xfrm>
          <a:prstGeom prst="rect">
            <a:avLst/>
          </a:prstGeom>
          <a:solidFill>
            <a:srgbClr val="D8E2F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057AA5-0C81-41C2-B8DC-F24AF90E9DF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33350" cy="514350"/>
          </a:xfrm>
          <a:prstGeom prst="roundRect">
            <a:avLst>
              <a:gd name="adj" fmla="val 50000"/>
            </a:avLst>
          </a:prstGeom>
          <a:solidFill>
            <a:srgbClr val="2456D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lide-4-title">
            <a:extLst>
              <a:ext uri="{FF2B5EF4-FFF2-40B4-BE49-F238E27FC236}">
                <a16:creationId xmlns:a16="http://schemas.microsoft.com/office/drawing/2014/main" id="{632F8416-EA45-4E3E-BC66-EE4062BB6236}"/>
              </a:ext>
            </a:extLst>
          </p:cNvPr>
          <p:cNvSpPr>
            <a:spLocks noGrp="1"/>
          </p:cNvSpPr>
          <p:nvPr/>
        </p:nvSpPr>
        <p:spPr>
          <a:xfrm>
            <a:off x="876300" y="247650"/>
            <a:ext cx="11239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母排拓扑与接线监测</a:t>
            </a:r>
          </a:p>
        </p:txBody>
      </p:sp>
      <p:sp>
        <p:nvSpPr>
          <p:cNvPr id="6" name="slide-4-subtitle">
            <a:extLst>
              <a:ext uri="{FF2B5EF4-FFF2-40B4-BE49-F238E27FC236}">
                <a16:creationId xmlns:a16="http://schemas.microsoft.com/office/drawing/2014/main" id="{647DFF8A-0D05-4067-9E72-970C677CFCFB}"/>
              </a:ext>
            </a:extLst>
          </p:cNvPr>
          <p:cNvSpPr>
            <a:spLocks noGrp="1"/>
          </p:cNvSpPr>
          <p:nvPr/>
        </p:nvSpPr>
        <p:spPr>
          <a:xfrm>
            <a:off x="895350" y="704850"/>
            <a:ext cx="1066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通过一次接线图观察发电机、PT、母线和断路器之间的连接状态。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C42DFDE-7694-4AC8-849B-AC59C752DD0A}"/>
              </a:ext>
            </a:extLst>
          </p:cNvPr>
          <p:cNvSpPr>
            <a:spLocks noGrp="1"/>
          </p:cNvSpPr>
          <p:nvPr/>
        </p:nvSpPr>
        <p:spPr>
          <a:xfrm>
            <a:off x="16287750" y="342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EEF4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lide-4-counter">
            <a:extLst>
              <a:ext uri="{FF2B5EF4-FFF2-40B4-BE49-F238E27FC236}">
                <a16:creationId xmlns:a16="http://schemas.microsoft.com/office/drawing/2014/main" id="{22C4CEAA-E80F-4915-8376-43D361905542}"/>
              </a:ext>
            </a:extLst>
          </p:cNvPr>
          <p:cNvSpPr>
            <a:spLocks noGrp="1"/>
          </p:cNvSpPr>
          <p:nvPr/>
        </p:nvSpPr>
        <p:spPr>
          <a:xfrm>
            <a:off x="16611600" y="4191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56D6"/>
                </a:solidFill>
              </a:defRPr>
            </a:pPr>
            <a:r>
              <a:rPr lang="en-US" altLang="zh-CN" sz="1500" b="1" dirty="0">
                <a:solidFill>
                  <a:srgbClr val="2456D6"/>
                </a:solidFill>
              </a:rPr>
              <a:t>2</a:t>
            </a:r>
            <a:r>
              <a:rPr sz="1500" b="1" dirty="0">
                <a:solidFill>
                  <a:srgbClr val="2456D6"/>
                </a:solidFill>
              </a:rPr>
              <a:t> / 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687C884-313F-47C5-A501-2A7D6351783F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11487150" cy="868680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190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103" y="1409700"/>
            <a:ext cx="11258495" cy="8458200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4B3CFE96-BE45-4E3B-83E5-7128C731290D}"/>
              </a:ext>
            </a:extLst>
          </p:cNvPr>
          <p:cNvSpPr>
            <a:spLocks noGrp="1"/>
          </p:cNvSpPr>
          <p:nvPr/>
        </p:nvSpPr>
        <p:spPr>
          <a:xfrm>
            <a:off x="3343275" y="3619500"/>
            <a:ext cx="2009775" cy="364807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AB7C03C-DD23-486D-A2BD-02BDA1FB57A8}"/>
              </a:ext>
            </a:extLst>
          </p:cNvPr>
          <p:cNvSpPr>
            <a:spLocks noGrp="1"/>
          </p:cNvSpPr>
          <p:nvPr/>
        </p:nvSpPr>
        <p:spPr>
          <a:xfrm>
            <a:off x="3209925" y="34861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highlight-1">
            <a:extLst>
              <a:ext uri="{FF2B5EF4-FFF2-40B4-BE49-F238E27FC236}">
                <a16:creationId xmlns:a16="http://schemas.microsoft.com/office/drawing/2014/main" id="{FF676018-4160-486D-89E3-B321F7232E23}"/>
              </a:ext>
            </a:extLst>
          </p:cNvPr>
          <p:cNvSpPr>
            <a:spLocks noGrp="1"/>
          </p:cNvSpPr>
          <p:nvPr/>
        </p:nvSpPr>
        <p:spPr>
          <a:xfrm>
            <a:off x="3314700" y="35242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57327B4-2E91-4207-84EC-B8065FE7CCFE}"/>
              </a:ext>
            </a:extLst>
          </p:cNvPr>
          <p:cNvSpPr>
            <a:spLocks noGrp="1"/>
          </p:cNvSpPr>
          <p:nvPr/>
        </p:nvSpPr>
        <p:spPr>
          <a:xfrm>
            <a:off x="7886700" y="3619500"/>
            <a:ext cx="2009775" cy="364807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DBA9561-5E20-4455-A1B5-74C11D53D70F}"/>
              </a:ext>
            </a:extLst>
          </p:cNvPr>
          <p:cNvSpPr>
            <a:spLocks noGrp="1"/>
          </p:cNvSpPr>
          <p:nvPr/>
        </p:nvSpPr>
        <p:spPr>
          <a:xfrm>
            <a:off x="7753350" y="34861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highlight-2">
            <a:extLst>
              <a:ext uri="{FF2B5EF4-FFF2-40B4-BE49-F238E27FC236}">
                <a16:creationId xmlns:a16="http://schemas.microsoft.com/office/drawing/2014/main" id="{C7E15588-754E-4816-9EDF-0783EBB9B03C}"/>
              </a:ext>
            </a:extLst>
          </p:cNvPr>
          <p:cNvSpPr>
            <a:spLocks noGrp="1"/>
          </p:cNvSpPr>
          <p:nvPr/>
        </p:nvSpPr>
        <p:spPr>
          <a:xfrm>
            <a:off x="7848600" y="35242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06805A0-F8E0-40FD-A793-7BB88F241A63}"/>
              </a:ext>
            </a:extLst>
          </p:cNvPr>
          <p:cNvSpPr>
            <a:spLocks noGrp="1"/>
          </p:cNvSpPr>
          <p:nvPr/>
        </p:nvSpPr>
        <p:spPr>
          <a:xfrm>
            <a:off x="1743075" y="5010150"/>
            <a:ext cx="1285875" cy="2133600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BA84C62-004A-4120-82AE-3C4ACE3EFDE0}"/>
              </a:ext>
            </a:extLst>
          </p:cNvPr>
          <p:cNvSpPr>
            <a:spLocks noGrp="1"/>
          </p:cNvSpPr>
          <p:nvPr/>
        </p:nvSpPr>
        <p:spPr>
          <a:xfrm>
            <a:off x="1609725" y="48768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highlight-3">
            <a:extLst>
              <a:ext uri="{FF2B5EF4-FFF2-40B4-BE49-F238E27FC236}">
                <a16:creationId xmlns:a16="http://schemas.microsoft.com/office/drawing/2014/main" id="{66ADCA8B-63AE-41D9-B656-1F0CB1FA3476}"/>
              </a:ext>
            </a:extLst>
          </p:cNvPr>
          <p:cNvSpPr>
            <a:spLocks noGrp="1"/>
          </p:cNvSpPr>
          <p:nvPr/>
        </p:nvSpPr>
        <p:spPr>
          <a:xfrm>
            <a:off x="1714500" y="4914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F7E7EAA-EA4A-48F7-8DC8-29EFED8B194E}"/>
              </a:ext>
            </a:extLst>
          </p:cNvPr>
          <p:cNvSpPr>
            <a:spLocks noGrp="1"/>
          </p:cNvSpPr>
          <p:nvPr/>
        </p:nvSpPr>
        <p:spPr>
          <a:xfrm>
            <a:off x="1190625" y="7620000"/>
            <a:ext cx="10363200" cy="657225"/>
          </a:xfrm>
          <a:prstGeom prst="ellipse">
            <a:avLst/>
          </a:prstGeom>
          <a:noFill/>
          <a:ln w="476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03A92B1-5AA0-447F-B751-24B33FC0EDF2}"/>
              </a:ext>
            </a:extLst>
          </p:cNvPr>
          <p:cNvSpPr>
            <a:spLocks noGrp="1"/>
          </p:cNvSpPr>
          <p:nvPr/>
        </p:nvSpPr>
        <p:spPr>
          <a:xfrm>
            <a:off x="1057275" y="74866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ighlight-4">
            <a:extLst>
              <a:ext uri="{FF2B5EF4-FFF2-40B4-BE49-F238E27FC236}">
                <a16:creationId xmlns:a16="http://schemas.microsoft.com/office/drawing/2014/main" id="{7532FA81-2FFF-43E4-8786-9655648C5501}"/>
              </a:ext>
            </a:extLst>
          </p:cNvPr>
          <p:cNvSpPr>
            <a:spLocks noGrp="1"/>
          </p:cNvSpPr>
          <p:nvPr/>
        </p:nvSpPr>
        <p:spPr>
          <a:xfrm>
            <a:off x="1162050" y="7524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6FE27C4-48D9-47E0-B170-611C41F6D3E0}"/>
              </a:ext>
            </a:extLst>
          </p:cNvPr>
          <p:cNvSpPr>
            <a:spLocks noGrp="1"/>
          </p:cNvSpPr>
          <p:nvPr/>
        </p:nvSpPr>
        <p:spPr>
          <a:xfrm>
            <a:off x="5762625" y="8305800"/>
            <a:ext cx="1314450" cy="476250"/>
          </a:xfrm>
          <a:prstGeom prst="ellipse">
            <a:avLst/>
          </a:prstGeom>
          <a:noFill/>
          <a:ln w="476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B9BDB97-394A-429A-B52D-81474A9EBCB4}"/>
              </a:ext>
            </a:extLst>
          </p:cNvPr>
          <p:cNvSpPr>
            <a:spLocks noGrp="1"/>
          </p:cNvSpPr>
          <p:nvPr/>
        </p:nvSpPr>
        <p:spPr>
          <a:xfrm>
            <a:off x="5629275" y="81724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highlight-5">
            <a:extLst>
              <a:ext uri="{FF2B5EF4-FFF2-40B4-BE49-F238E27FC236}">
                <a16:creationId xmlns:a16="http://schemas.microsoft.com/office/drawing/2014/main" id="{5BA9649F-A914-4A5E-A9C5-271CD0D7E98B}"/>
              </a:ext>
            </a:extLst>
          </p:cNvPr>
          <p:cNvSpPr>
            <a:spLocks noGrp="1"/>
          </p:cNvSpPr>
          <p:nvPr/>
        </p:nvSpPr>
        <p:spPr>
          <a:xfrm>
            <a:off x="5734050" y="82105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callout-heading">
            <a:extLst>
              <a:ext uri="{FF2B5EF4-FFF2-40B4-BE49-F238E27FC236}">
                <a16:creationId xmlns:a16="http://schemas.microsoft.com/office/drawing/2014/main" id="{34AF4750-B048-4560-8027-98DCD5B976EE}"/>
              </a:ext>
            </a:extLst>
          </p:cNvPr>
          <p:cNvSpPr>
            <a:spLocks noGrp="1"/>
          </p:cNvSpPr>
          <p:nvPr/>
        </p:nvSpPr>
        <p:spPr>
          <a:xfrm>
            <a:off x="12573000" y="139065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rPr sz="1800" b="1">
                <a:solidFill>
                  <a:srgbClr val="E11D48"/>
                </a:solidFill>
              </a:rPr>
              <a:t>圈注说明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885B83F-A2C6-42D7-92C1-A872F35F9F0E}"/>
              </a:ext>
            </a:extLst>
          </p:cNvPr>
          <p:cNvSpPr>
            <a:spLocks noGrp="1"/>
          </p:cNvSpPr>
          <p:nvPr/>
        </p:nvSpPr>
        <p:spPr>
          <a:xfrm>
            <a:off x="12573000" y="179070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0DF74D58-87F1-4242-9EE9-398B42613130}"/>
              </a:ext>
            </a:extLst>
          </p:cNvPr>
          <p:cNvSpPr>
            <a:spLocks noGrp="1"/>
          </p:cNvSpPr>
          <p:nvPr/>
        </p:nvSpPr>
        <p:spPr>
          <a:xfrm>
            <a:off x="12744450" y="19812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allout-1-number">
            <a:extLst>
              <a:ext uri="{FF2B5EF4-FFF2-40B4-BE49-F238E27FC236}">
                <a16:creationId xmlns:a16="http://schemas.microsoft.com/office/drawing/2014/main" id="{588FFEE8-2969-4425-AF74-EDED79ABFBB8}"/>
              </a:ext>
            </a:extLst>
          </p:cNvPr>
          <p:cNvSpPr>
            <a:spLocks noGrp="1"/>
          </p:cNvSpPr>
          <p:nvPr/>
        </p:nvSpPr>
        <p:spPr>
          <a:xfrm>
            <a:off x="12839700" y="2019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callout-1-title">
            <a:extLst>
              <a:ext uri="{FF2B5EF4-FFF2-40B4-BE49-F238E27FC236}">
                <a16:creationId xmlns:a16="http://schemas.microsoft.com/office/drawing/2014/main" id="{C7E4C17F-5F72-4E59-8F06-60010967CB3D}"/>
              </a:ext>
            </a:extLst>
          </p:cNvPr>
          <p:cNvSpPr>
            <a:spLocks noGrp="1"/>
          </p:cNvSpPr>
          <p:nvPr/>
        </p:nvSpPr>
        <p:spPr>
          <a:xfrm>
            <a:off x="13220700" y="19621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G1 机组侧</a:t>
            </a:r>
          </a:p>
        </p:txBody>
      </p:sp>
      <p:sp>
        <p:nvSpPr>
          <p:cNvPr id="31" name="callout-1-body">
            <a:extLst>
              <a:ext uri="{FF2B5EF4-FFF2-40B4-BE49-F238E27FC236}">
                <a16:creationId xmlns:a16="http://schemas.microsoft.com/office/drawing/2014/main" id="{A0E03C0D-962D-474A-9BDB-2330DD8EB391}"/>
              </a:ext>
            </a:extLst>
          </p:cNvPr>
          <p:cNvSpPr>
            <a:spLocks noGrp="1"/>
          </p:cNvSpPr>
          <p:nvPr/>
        </p:nvSpPr>
        <p:spPr>
          <a:xfrm>
            <a:off x="13220700" y="230505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显示</a:t>
            </a:r>
            <a:r>
              <a:rPr sz="1275" dirty="0">
                <a:solidFill>
                  <a:srgbClr val="50617A"/>
                </a:solidFill>
              </a:rPr>
              <a:t> G1、CT </a:t>
            </a:r>
            <a:r>
              <a:rPr sz="1275" dirty="0" err="1">
                <a:solidFill>
                  <a:srgbClr val="50617A"/>
                </a:solidFill>
              </a:rPr>
              <a:t>电流、接地阻抗和断路器连接状态</a:t>
            </a:r>
            <a:r>
              <a:rPr lang="zh-CN" altLang="en-US" sz="1275" dirty="0">
                <a:solidFill>
                  <a:srgbClr val="50617A"/>
                </a:solidFill>
              </a:rPr>
              <a:t>以及回路端子。</a:t>
            </a:r>
            <a:endParaRPr lang="en-US" sz="1275" dirty="0">
              <a:solidFill>
                <a:srgbClr val="50617A"/>
              </a:solidFill>
            </a:endParaRPr>
          </a:p>
          <a:p>
            <a:pPr>
              <a:defRPr sz="1275">
                <a:solidFill>
                  <a:srgbClr val="50617A"/>
                </a:solidFill>
              </a:defRPr>
            </a:pPr>
            <a:endParaRPr sz="1275" dirty="0">
              <a:solidFill>
                <a:srgbClr val="50617A"/>
              </a:solidFill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01AC7F83-372F-4B9C-8926-D7797FC834CF}"/>
              </a:ext>
            </a:extLst>
          </p:cNvPr>
          <p:cNvSpPr>
            <a:spLocks noGrp="1"/>
          </p:cNvSpPr>
          <p:nvPr/>
        </p:nvSpPr>
        <p:spPr>
          <a:xfrm>
            <a:off x="12573000" y="318135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28A0342-1171-4D67-B4CA-04D0BA48470A}"/>
              </a:ext>
            </a:extLst>
          </p:cNvPr>
          <p:cNvSpPr>
            <a:spLocks noGrp="1"/>
          </p:cNvSpPr>
          <p:nvPr/>
        </p:nvSpPr>
        <p:spPr>
          <a:xfrm>
            <a:off x="12744450" y="33718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callout-2-number">
            <a:extLst>
              <a:ext uri="{FF2B5EF4-FFF2-40B4-BE49-F238E27FC236}">
                <a16:creationId xmlns:a16="http://schemas.microsoft.com/office/drawing/2014/main" id="{FDA0DEA6-CBF0-4DEB-804C-836495D4FE0A}"/>
              </a:ext>
            </a:extLst>
          </p:cNvPr>
          <p:cNvSpPr>
            <a:spLocks noGrp="1"/>
          </p:cNvSpPr>
          <p:nvPr/>
        </p:nvSpPr>
        <p:spPr>
          <a:xfrm>
            <a:off x="12839700" y="34099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callout-2-title">
            <a:extLst>
              <a:ext uri="{FF2B5EF4-FFF2-40B4-BE49-F238E27FC236}">
                <a16:creationId xmlns:a16="http://schemas.microsoft.com/office/drawing/2014/main" id="{AADCFB23-D118-4BC1-842F-FE1091557471}"/>
              </a:ext>
            </a:extLst>
          </p:cNvPr>
          <p:cNvSpPr>
            <a:spLocks noGrp="1"/>
          </p:cNvSpPr>
          <p:nvPr/>
        </p:nvSpPr>
        <p:spPr>
          <a:xfrm>
            <a:off x="13220700" y="335280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G2 机组侧</a:t>
            </a:r>
          </a:p>
        </p:txBody>
      </p:sp>
      <p:sp>
        <p:nvSpPr>
          <p:cNvPr id="36" name="callout-2-body">
            <a:extLst>
              <a:ext uri="{FF2B5EF4-FFF2-40B4-BE49-F238E27FC236}">
                <a16:creationId xmlns:a16="http://schemas.microsoft.com/office/drawing/2014/main" id="{EAFDBD4C-86C7-4BDA-8A11-1FE43F4D61BE}"/>
              </a:ext>
            </a:extLst>
          </p:cNvPr>
          <p:cNvSpPr>
            <a:spLocks noGrp="1"/>
          </p:cNvSpPr>
          <p:nvPr/>
        </p:nvSpPr>
        <p:spPr>
          <a:xfrm>
            <a:off x="13220700" y="369570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与</a:t>
            </a:r>
            <a:r>
              <a:rPr sz="1275" dirty="0">
                <a:solidFill>
                  <a:srgbClr val="50617A"/>
                </a:solidFill>
              </a:rPr>
              <a:t> G1 </a:t>
            </a:r>
            <a:r>
              <a:rPr sz="1275" dirty="0" err="1">
                <a:solidFill>
                  <a:srgbClr val="50617A"/>
                </a:solidFill>
              </a:rPr>
              <a:t>对称显示，便于比较两台机组状态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728B0A7-C501-4C13-A1F4-2E786C8CA177}"/>
              </a:ext>
            </a:extLst>
          </p:cNvPr>
          <p:cNvSpPr>
            <a:spLocks noGrp="1"/>
          </p:cNvSpPr>
          <p:nvPr/>
        </p:nvSpPr>
        <p:spPr>
          <a:xfrm>
            <a:off x="12573000" y="457200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2CC5C7C-67CA-414E-8086-1CC2A24073E2}"/>
              </a:ext>
            </a:extLst>
          </p:cNvPr>
          <p:cNvSpPr>
            <a:spLocks noGrp="1"/>
          </p:cNvSpPr>
          <p:nvPr/>
        </p:nvSpPr>
        <p:spPr>
          <a:xfrm>
            <a:off x="12744450" y="47625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callout-3-number">
            <a:extLst>
              <a:ext uri="{FF2B5EF4-FFF2-40B4-BE49-F238E27FC236}">
                <a16:creationId xmlns:a16="http://schemas.microsoft.com/office/drawing/2014/main" id="{38B67DF0-EDFA-4D71-B4A6-B609CB47C116}"/>
              </a:ext>
            </a:extLst>
          </p:cNvPr>
          <p:cNvSpPr>
            <a:spLocks noGrp="1"/>
          </p:cNvSpPr>
          <p:nvPr/>
        </p:nvSpPr>
        <p:spPr>
          <a:xfrm>
            <a:off x="12839700" y="4800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callout-3-title">
            <a:extLst>
              <a:ext uri="{FF2B5EF4-FFF2-40B4-BE49-F238E27FC236}">
                <a16:creationId xmlns:a16="http://schemas.microsoft.com/office/drawing/2014/main" id="{2EB6A35A-7094-480F-A561-8E8B6A87C78D}"/>
              </a:ext>
            </a:extLst>
          </p:cNvPr>
          <p:cNvSpPr>
            <a:spLocks noGrp="1"/>
          </p:cNvSpPr>
          <p:nvPr/>
        </p:nvSpPr>
        <p:spPr>
          <a:xfrm>
            <a:off x="13220700" y="47434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PT 与端子排</a:t>
            </a:r>
          </a:p>
        </p:txBody>
      </p:sp>
      <p:sp>
        <p:nvSpPr>
          <p:cNvPr id="41" name="callout-3-body">
            <a:extLst>
              <a:ext uri="{FF2B5EF4-FFF2-40B4-BE49-F238E27FC236}">
                <a16:creationId xmlns:a16="http://schemas.microsoft.com/office/drawing/2014/main" id="{D0BB63D8-23EE-48A7-BA94-4F571FBA0023}"/>
              </a:ext>
            </a:extLst>
          </p:cNvPr>
          <p:cNvSpPr>
            <a:spLocks noGrp="1"/>
          </p:cNvSpPr>
          <p:nvPr/>
        </p:nvSpPr>
        <p:spPr>
          <a:xfrm>
            <a:off x="13220700" y="508635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标出</a:t>
            </a:r>
            <a:r>
              <a:rPr sz="1275" dirty="0">
                <a:solidFill>
                  <a:srgbClr val="50617A"/>
                </a:solidFill>
              </a:rPr>
              <a:t> PT </a:t>
            </a:r>
            <a:r>
              <a:rPr sz="1275" dirty="0" err="1">
                <a:solidFill>
                  <a:srgbClr val="50617A"/>
                </a:solidFill>
              </a:rPr>
              <a:t>本体、一次侧和二次端子排，辅助接线检查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58F1DF2E-9B5C-486B-82F6-CFA7FA3DCD62}"/>
              </a:ext>
            </a:extLst>
          </p:cNvPr>
          <p:cNvSpPr>
            <a:spLocks noGrp="1"/>
          </p:cNvSpPr>
          <p:nvPr/>
        </p:nvSpPr>
        <p:spPr>
          <a:xfrm>
            <a:off x="12573000" y="596265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E47669A-D789-4DDA-842F-629C9D1CD984}"/>
              </a:ext>
            </a:extLst>
          </p:cNvPr>
          <p:cNvSpPr>
            <a:spLocks noGrp="1"/>
          </p:cNvSpPr>
          <p:nvPr/>
        </p:nvSpPr>
        <p:spPr>
          <a:xfrm>
            <a:off x="12744450" y="61531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allout-4-number">
            <a:extLst>
              <a:ext uri="{FF2B5EF4-FFF2-40B4-BE49-F238E27FC236}">
                <a16:creationId xmlns:a16="http://schemas.microsoft.com/office/drawing/2014/main" id="{3FC1CBCF-5E90-4682-AFDE-83959A964E65}"/>
              </a:ext>
            </a:extLst>
          </p:cNvPr>
          <p:cNvSpPr>
            <a:spLocks noGrp="1"/>
          </p:cNvSpPr>
          <p:nvPr/>
        </p:nvSpPr>
        <p:spPr>
          <a:xfrm>
            <a:off x="12839700" y="61912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callout-4-title">
            <a:extLst>
              <a:ext uri="{FF2B5EF4-FFF2-40B4-BE49-F238E27FC236}">
                <a16:creationId xmlns:a16="http://schemas.microsoft.com/office/drawing/2014/main" id="{B2D42F2C-08F4-403A-A84E-C00588566E1D}"/>
              </a:ext>
            </a:extLst>
          </p:cNvPr>
          <p:cNvSpPr>
            <a:spLocks noGrp="1"/>
          </p:cNvSpPr>
          <p:nvPr/>
        </p:nvSpPr>
        <p:spPr>
          <a:xfrm>
            <a:off x="13220700" y="613410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A/B/C/N 母线</a:t>
            </a:r>
          </a:p>
        </p:txBody>
      </p:sp>
      <p:sp>
        <p:nvSpPr>
          <p:cNvPr id="46" name="callout-4-body">
            <a:extLst>
              <a:ext uri="{FF2B5EF4-FFF2-40B4-BE49-F238E27FC236}">
                <a16:creationId xmlns:a16="http://schemas.microsoft.com/office/drawing/2014/main" id="{6F0064AE-7D02-4936-8239-EEFED6D7C3D5}"/>
              </a:ext>
            </a:extLst>
          </p:cNvPr>
          <p:cNvSpPr>
            <a:spLocks noGrp="1"/>
          </p:cNvSpPr>
          <p:nvPr/>
        </p:nvSpPr>
        <p:spPr>
          <a:xfrm>
            <a:off x="13220700" y="647700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用颜色区分三相与中性线，快速判断母排状态。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5E8D83C-9488-4714-A6C2-D953E5451031}"/>
              </a:ext>
            </a:extLst>
          </p:cNvPr>
          <p:cNvSpPr>
            <a:spLocks noGrp="1"/>
          </p:cNvSpPr>
          <p:nvPr/>
        </p:nvSpPr>
        <p:spPr>
          <a:xfrm>
            <a:off x="12573000" y="735330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8FFFDC7-D6E7-414F-A3B8-9992B04C67A7}"/>
              </a:ext>
            </a:extLst>
          </p:cNvPr>
          <p:cNvSpPr>
            <a:spLocks noGrp="1"/>
          </p:cNvSpPr>
          <p:nvPr/>
        </p:nvSpPr>
        <p:spPr>
          <a:xfrm>
            <a:off x="12744450" y="75438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callout-5-number">
            <a:extLst>
              <a:ext uri="{FF2B5EF4-FFF2-40B4-BE49-F238E27FC236}">
                <a16:creationId xmlns:a16="http://schemas.microsoft.com/office/drawing/2014/main" id="{942F416F-A8D7-499F-A94F-CF083126B38E}"/>
              </a:ext>
            </a:extLst>
          </p:cNvPr>
          <p:cNvSpPr>
            <a:spLocks noGrp="1"/>
          </p:cNvSpPr>
          <p:nvPr/>
        </p:nvSpPr>
        <p:spPr>
          <a:xfrm>
            <a:off x="1283970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callout-5-title">
            <a:extLst>
              <a:ext uri="{FF2B5EF4-FFF2-40B4-BE49-F238E27FC236}">
                <a16:creationId xmlns:a16="http://schemas.microsoft.com/office/drawing/2014/main" id="{91E9C21A-B83A-41F5-87C7-2F19F2D8EE44}"/>
              </a:ext>
            </a:extLst>
          </p:cNvPr>
          <p:cNvSpPr>
            <a:spLocks noGrp="1"/>
          </p:cNvSpPr>
          <p:nvPr/>
        </p:nvSpPr>
        <p:spPr>
          <a:xfrm>
            <a:off x="13220700" y="75247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系统状态</a:t>
            </a:r>
          </a:p>
        </p:txBody>
      </p:sp>
      <p:sp>
        <p:nvSpPr>
          <p:cNvPr id="51" name="callout-5-body">
            <a:extLst>
              <a:ext uri="{FF2B5EF4-FFF2-40B4-BE49-F238E27FC236}">
                <a16:creationId xmlns:a16="http://schemas.microsoft.com/office/drawing/2014/main" id="{C26DE3F9-8079-4C5C-A8F8-EAAF4FC153BC}"/>
              </a:ext>
            </a:extLst>
          </p:cNvPr>
          <p:cNvSpPr>
            <a:spLocks noGrp="1"/>
          </p:cNvSpPr>
          <p:nvPr/>
        </p:nvSpPr>
        <p:spPr>
          <a:xfrm>
            <a:off x="13220700" y="7867650"/>
            <a:ext cx="41148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底部显示死母线和回路形成情况，作为操作前判断依据。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3BD8A6B-B78C-47E6-9F77-6BBCEA54D345}"/>
              </a:ext>
            </a:extLst>
          </p:cNvPr>
          <p:cNvSpPr>
            <a:spLocks noGrp="1"/>
          </p:cNvSpPr>
          <p:nvPr/>
        </p:nvSpPr>
        <p:spPr>
          <a:xfrm>
            <a:off x="0" y="9963150"/>
            <a:ext cx="18288000" cy="323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footer">
            <a:extLst>
              <a:ext uri="{FF2B5EF4-FFF2-40B4-BE49-F238E27FC236}">
                <a16:creationId xmlns:a16="http://schemas.microsoft.com/office/drawing/2014/main" id="{6C9958B4-6AA0-4BE3-8390-1CF1BC027D84}"/>
              </a:ext>
            </a:extLst>
          </p:cNvPr>
          <p:cNvSpPr>
            <a:spLocks noGrp="1"/>
          </p:cNvSpPr>
          <p:nvPr/>
        </p:nvSpPr>
        <p:spPr>
          <a:xfrm>
            <a:off x="685800" y="100393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三相并网仿真教学系统界面介绍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FD4D1D6A-84F3-27E6-8703-A2E1D8AD29D4}"/>
              </a:ext>
            </a:extLst>
          </p:cNvPr>
          <p:cNvSpPr>
            <a:spLocks noGrp="1"/>
          </p:cNvSpPr>
          <p:nvPr/>
        </p:nvSpPr>
        <p:spPr>
          <a:xfrm>
            <a:off x="3552825" y="5724525"/>
            <a:ext cx="1314450" cy="476250"/>
          </a:xfrm>
          <a:prstGeom prst="ellipse">
            <a:avLst/>
          </a:prstGeom>
          <a:noFill/>
          <a:ln w="476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145D09D-2A8E-0775-CE46-1684C3D64E91}"/>
              </a:ext>
            </a:extLst>
          </p:cNvPr>
          <p:cNvSpPr>
            <a:spLocks noGrp="1"/>
          </p:cNvSpPr>
          <p:nvPr/>
        </p:nvSpPr>
        <p:spPr>
          <a:xfrm>
            <a:off x="7981964" y="5715000"/>
            <a:ext cx="1314450" cy="476250"/>
          </a:xfrm>
          <a:prstGeom prst="ellipse">
            <a:avLst/>
          </a:prstGeom>
          <a:noFill/>
          <a:ln w="476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81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E0A1F7D1-0633-425D-B7B3-8402B5AB44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7F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EDD820-DD8C-495B-8140-C6CA0086F1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04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281A50-3EA9-43AD-A438-C4D32621F850}"/>
              </a:ext>
            </a:extLst>
          </p:cNvPr>
          <p:cNvSpPr>
            <a:spLocks noGrp="1"/>
          </p:cNvSpPr>
          <p:nvPr/>
        </p:nvSpPr>
        <p:spPr>
          <a:xfrm>
            <a:off x="0" y="1085850"/>
            <a:ext cx="18288000" cy="19050"/>
          </a:xfrm>
          <a:prstGeom prst="rect">
            <a:avLst/>
          </a:prstGeom>
          <a:solidFill>
            <a:srgbClr val="D8E2F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8C242B4-A5A7-4EC8-BBBB-C608CE6511A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33350" cy="514350"/>
          </a:xfrm>
          <a:prstGeom prst="roundRect">
            <a:avLst>
              <a:gd name="adj" fmla="val 50000"/>
            </a:avLst>
          </a:prstGeom>
          <a:solidFill>
            <a:srgbClr val="2456D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lide-1-title">
            <a:extLst>
              <a:ext uri="{FF2B5EF4-FFF2-40B4-BE49-F238E27FC236}">
                <a16:creationId xmlns:a16="http://schemas.microsoft.com/office/drawing/2014/main" id="{237F3384-CB71-4317-8350-5D097CF56C5D}"/>
              </a:ext>
            </a:extLst>
          </p:cNvPr>
          <p:cNvSpPr>
            <a:spLocks noGrp="1"/>
          </p:cNvSpPr>
          <p:nvPr/>
        </p:nvSpPr>
        <p:spPr>
          <a:xfrm>
            <a:off x="876300" y="247650"/>
            <a:ext cx="11239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控制台：进入测试与训练场景</a:t>
            </a:r>
          </a:p>
        </p:txBody>
      </p:sp>
      <p:sp>
        <p:nvSpPr>
          <p:cNvPr id="6" name="slide-1-subtitle">
            <a:extLst>
              <a:ext uri="{FF2B5EF4-FFF2-40B4-BE49-F238E27FC236}">
                <a16:creationId xmlns:a16="http://schemas.microsoft.com/office/drawing/2014/main" id="{994566B1-F302-417B-A3AF-C00F034FB728}"/>
              </a:ext>
            </a:extLst>
          </p:cNvPr>
          <p:cNvSpPr>
            <a:spLocks noGrp="1"/>
          </p:cNvSpPr>
          <p:nvPr/>
        </p:nvSpPr>
        <p:spPr>
          <a:xfrm>
            <a:off x="895350" y="704850"/>
            <a:ext cx="1066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用于选择系统运行方式、预设故障，并进入合闸前测试流程。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53298CE-C5D9-4008-BFA0-C1849C0053A9}"/>
              </a:ext>
            </a:extLst>
          </p:cNvPr>
          <p:cNvSpPr>
            <a:spLocks noGrp="1"/>
          </p:cNvSpPr>
          <p:nvPr/>
        </p:nvSpPr>
        <p:spPr>
          <a:xfrm>
            <a:off x="16287750" y="342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EEF4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lide-1-counter">
            <a:extLst>
              <a:ext uri="{FF2B5EF4-FFF2-40B4-BE49-F238E27FC236}">
                <a16:creationId xmlns:a16="http://schemas.microsoft.com/office/drawing/2014/main" id="{0FDAED66-25A4-466A-8859-0717CFF127F7}"/>
              </a:ext>
            </a:extLst>
          </p:cNvPr>
          <p:cNvSpPr>
            <a:spLocks noGrp="1"/>
          </p:cNvSpPr>
          <p:nvPr/>
        </p:nvSpPr>
        <p:spPr>
          <a:xfrm>
            <a:off x="16611600" y="4191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56D6"/>
                </a:solidFill>
              </a:defRPr>
            </a:pPr>
            <a:r>
              <a:rPr lang="en-US" altLang="zh-CN" sz="1500" b="1" dirty="0">
                <a:solidFill>
                  <a:srgbClr val="2456D6"/>
                </a:solidFill>
              </a:rPr>
              <a:t>3</a:t>
            </a:r>
            <a:r>
              <a:rPr sz="1500" b="1" dirty="0">
                <a:solidFill>
                  <a:srgbClr val="2456D6"/>
                </a:solidFill>
              </a:rPr>
              <a:t> / 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AB4B3C8-4FC1-45B4-82BE-8DC964225DBB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7858125" cy="746760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90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25676"/>
            <a:ext cx="7629525" cy="7235649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5C377100-BD4F-4DCA-9946-966577EE52B3}"/>
              </a:ext>
            </a:extLst>
          </p:cNvPr>
          <p:cNvSpPr>
            <a:spLocks noGrp="1"/>
          </p:cNvSpPr>
          <p:nvPr/>
        </p:nvSpPr>
        <p:spPr>
          <a:xfrm>
            <a:off x="819150" y="2371725"/>
            <a:ext cx="7372350" cy="178117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2DF4EE8-A0F2-49E7-96A1-D18998BD439B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highlight-1">
            <a:extLst>
              <a:ext uri="{FF2B5EF4-FFF2-40B4-BE49-F238E27FC236}">
                <a16:creationId xmlns:a16="http://schemas.microsoft.com/office/drawing/2014/main" id="{F6050687-8BD0-47F6-B8DF-00576A6286AA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1F3464C-7A7E-4C07-A687-836680CDA433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7353300" cy="172402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ED2144B-703E-4E37-9656-864683D474A1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highlight-2">
            <a:extLst>
              <a:ext uri="{FF2B5EF4-FFF2-40B4-BE49-F238E27FC236}">
                <a16:creationId xmlns:a16="http://schemas.microsoft.com/office/drawing/2014/main" id="{FF4E65CA-EED0-43AD-B20E-5E376C073A58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D21C0E7-FC99-4128-B43C-3C9975EC3493}"/>
              </a:ext>
            </a:extLst>
          </p:cNvPr>
          <p:cNvSpPr>
            <a:spLocks noGrp="1"/>
          </p:cNvSpPr>
          <p:nvPr/>
        </p:nvSpPr>
        <p:spPr>
          <a:xfrm>
            <a:off x="800100" y="6296025"/>
            <a:ext cx="7458075" cy="65722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A6A6D18-8EAB-46A5-82FC-781CC369683F}"/>
              </a:ext>
            </a:extLst>
          </p:cNvPr>
          <p:cNvSpPr>
            <a:spLocks noGrp="1"/>
          </p:cNvSpPr>
          <p:nvPr/>
        </p:nvSpPr>
        <p:spPr>
          <a:xfrm>
            <a:off x="704850" y="616267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highlight-3">
            <a:extLst>
              <a:ext uri="{FF2B5EF4-FFF2-40B4-BE49-F238E27FC236}">
                <a16:creationId xmlns:a16="http://schemas.microsoft.com/office/drawing/2014/main" id="{357FAB54-BB31-426F-8EAB-C4BCBDE695CC}"/>
              </a:ext>
            </a:extLst>
          </p:cNvPr>
          <p:cNvSpPr>
            <a:spLocks noGrp="1"/>
          </p:cNvSpPr>
          <p:nvPr/>
        </p:nvSpPr>
        <p:spPr>
          <a:xfrm>
            <a:off x="800100" y="6210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23ED0F1-F4E8-4EA4-A54A-A41429793481}"/>
              </a:ext>
            </a:extLst>
          </p:cNvPr>
          <p:cNvSpPr>
            <a:spLocks noGrp="1"/>
          </p:cNvSpPr>
          <p:nvPr/>
        </p:nvSpPr>
        <p:spPr>
          <a:xfrm>
            <a:off x="819150" y="7067550"/>
            <a:ext cx="7439025" cy="1543050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D181593-1ABB-4FC8-A9E3-B1663D820C51}"/>
              </a:ext>
            </a:extLst>
          </p:cNvPr>
          <p:cNvSpPr>
            <a:spLocks noGrp="1"/>
          </p:cNvSpPr>
          <p:nvPr/>
        </p:nvSpPr>
        <p:spPr>
          <a:xfrm>
            <a:off x="704850" y="69342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ighlight-4">
            <a:extLst>
              <a:ext uri="{FF2B5EF4-FFF2-40B4-BE49-F238E27FC236}">
                <a16:creationId xmlns:a16="http://schemas.microsoft.com/office/drawing/2014/main" id="{E45B9084-1E78-461C-A299-21B8DE5A6281}"/>
              </a:ext>
            </a:extLst>
          </p:cNvPr>
          <p:cNvSpPr>
            <a:spLocks noGrp="1"/>
          </p:cNvSpPr>
          <p:nvPr/>
        </p:nvSpPr>
        <p:spPr>
          <a:xfrm>
            <a:off x="800100" y="6972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callout-heading">
            <a:extLst>
              <a:ext uri="{FF2B5EF4-FFF2-40B4-BE49-F238E27FC236}">
                <a16:creationId xmlns:a16="http://schemas.microsoft.com/office/drawing/2014/main" id="{CC042F62-3527-45EE-AA9A-481238333D04}"/>
              </a:ext>
            </a:extLst>
          </p:cNvPr>
          <p:cNvSpPr>
            <a:spLocks noGrp="1"/>
          </p:cNvSpPr>
          <p:nvPr/>
        </p:nvSpPr>
        <p:spPr>
          <a:xfrm>
            <a:off x="9105900" y="1581150"/>
            <a:ext cx="7667625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rPr sz="1800" b="1">
                <a:solidFill>
                  <a:srgbClr val="E11D48"/>
                </a:solidFill>
              </a:rPr>
              <a:t>圈注说明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E91BBDD-5E51-4DE3-84E3-61DDF8CDDF11}"/>
              </a:ext>
            </a:extLst>
          </p:cNvPr>
          <p:cNvSpPr>
            <a:spLocks noGrp="1"/>
          </p:cNvSpPr>
          <p:nvPr/>
        </p:nvSpPr>
        <p:spPr>
          <a:xfrm>
            <a:off x="9096375" y="1981200"/>
            <a:ext cx="76676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E16AF7E-C983-42F3-A3C9-F9E76A30AF99}"/>
              </a:ext>
            </a:extLst>
          </p:cNvPr>
          <p:cNvSpPr>
            <a:spLocks noGrp="1"/>
          </p:cNvSpPr>
          <p:nvPr/>
        </p:nvSpPr>
        <p:spPr>
          <a:xfrm>
            <a:off x="9267825" y="21717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callout-1-number">
            <a:extLst>
              <a:ext uri="{FF2B5EF4-FFF2-40B4-BE49-F238E27FC236}">
                <a16:creationId xmlns:a16="http://schemas.microsoft.com/office/drawing/2014/main" id="{76F809D6-BBD0-44A1-BF30-FEFDE10BA700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callout-1-title">
            <a:extLst>
              <a:ext uri="{FF2B5EF4-FFF2-40B4-BE49-F238E27FC236}">
                <a16:creationId xmlns:a16="http://schemas.microsoft.com/office/drawing/2014/main" id="{7903960F-9438-4C3C-BED5-DAF0FD94E3C0}"/>
              </a:ext>
            </a:extLst>
          </p:cNvPr>
          <p:cNvSpPr>
            <a:spLocks noGrp="1"/>
          </p:cNvSpPr>
          <p:nvPr/>
        </p:nvSpPr>
        <p:spPr>
          <a:xfrm>
            <a:off x="9753600" y="2152650"/>
            <a:ext cx="6810375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 dirty="0" err="1">
                <a:solidFill>
                  <a:srgbClr val="0F172A"/>
                </a:solidFill>
              </a:rPr>
              <a:t>系统运行模式</a:t>
            </a:r>
            <a:endParaRPr sz="1650" b="1" dirty="0">
              <a:solidFill>
                <a:srgbClr val="0F172A"/>
              </a:solidFill>
            </a:endParaRPr>
          </a:p>
        </p:txBody>
      </p:sp>
      <p:sp>
        <p:nvSpPr>
          <p:cNvPr id="28" name="callout-1-body">
            <a:extLst>
              <a:ext uri="{FF2B5EF4-FFF2-40B4-BE49-F238E27FC236}">
                <a16:creationId xmlns:a16="http://schemas.microsoft.com/office/drawing/2014/main" id="{2EC81629-6169-4E5C-BAC2-14465868D2F7}"/>
              </a:ext>
            </a:extLst>
          </p:cNvPr>
          <p:cNvSpPr>
            <a:spLocks noGrp="1"/>
          </p:cNvSpPr>
          <p:nvPr/>
        </p:nvSpPr>
        <p:spPr>
          <a:xfrm>
            <a:off x="9753600" y="2495550"/>
            <a:ext cx="682942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 dirty="0" err="1">
                <a:solidFill>
                  <a:srgbClr val="50617A"/>
                </a:solidFill>
              </a:rPr>
              <a:t>切换隔离母排、孤岛运行、并网运行等仿真入口</a:t>
            </a:r>
            <a:r>
              <a:rPr sz="1350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2072486-3001-402E-A798-10FCF76C5391}"/>
              </a:ext>
            </a:extLst>
          </p:cNvPr>
          <p:cNvSpPr>
            <a:spLocks noGrp="1"/>
          </p:cNvSpPr>
          <p:nvPr/>
        </p:nvSpPr>
        <p:spPr>
          <a:xfrm>
            <a:off x="9096375" y="3524250"/>
            <a:ext cx="76676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FEE2FFB-562E-4755-BEED-7B42DF0B9C50}"/>
              </a:ext>
            </a:extLst>
          </p:cNvPr>
          <p:cNvSpPr>
            <a:spLocks noGrp="1"/>
          </p:cNvSpPr>
          <p:nvPr/>
        </p:nvSpPr>
        <p:spPr>
          <a:xfrm>
            <a:off x="9267825" y="37147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callout-2-number">
            <a:extLst>
              <a:ext uri="{FF2B5EF4-FFF2-40B4-BE49-F238E27FC236}">
                <a16:creationId xmlns:a16="http://schemas.microsoft.com/office/drawing/2014/main" id="{5D2B743B-CE32-457B-B0FF-E0978E197254}"/>
              </a:ext>
            </a:extLst>
          </p:cNvPr>
          <p:cNvSpPr>
            <a:spLocks noGrp="1"/>
          </p:cNvSpPr>
          <p:nvPr/>
        </p:nvSpPr>
        <p:spPr>
          <a:xfrm>
            <a:off x="9372600" y="37528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callout-2-title">
            <a:extLst>
              <a:ext uri="{FF2B5EF4-FFF2-40B4-BE49-F238E27FC236}">
                <a16:creationId xmlns:a16="http://schemas.microsoft.com/office/drawing/2014/main" id="{5B0CB01E-2D59-4DE1-8BFD-F29B12E970ED}"/>
              </a:ext>
            </a:extLst>
          </p:cNvPr>
          <p:cNvSpPr>
            <a:spLocks noGrp="1"/>
          </p:cNvSpPr>
          <p:nvPr/>
        </p:nvSpPr>
        <p:spPr>
          <a:xfrm>
            <a:off x="9753600" y="3695700"/>
            <a:ext cx="6810375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故障训练场景</a:t>
            </a:r>
          </a:p>
        </p:txBody>
      </p:sp>
      <p:sp>
        <p:nvSpPr>
          <p:cNvPr id="33" name="callout-2-body">
            <a:extLst>
              <a:ext uri="{FF2B5EF4-FFF2-40B4-BE49-F238E27FC236}">
                <a16:creationId xmlns:a16="http://schemas.microsoft.com/office/drawing/2014/main" id="{8450D268-65B3-49A6-B97A-6426CC5B83E6}"/>
              </a:ext>
            </a:extLst>
          </p:cNvPr>
          <p:cNvSpPr>
            <a:spLocks noGrp="1"/>
          </p:cNvSpPr>
          <p:nvPr/>
        </p:nvSpPr>
        <p:spPr>
          <a:xfrm>
            <a:off x="9753600" y="4038600"/>
            <a:ext cx="682942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支持正常模式、随机故障和指定场景，便于教学或考核。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BA43882-D410-4E9A-9E67-24B276238266}"/>
              </a:ext>
            </a:extLst>
          </p:cNvPr>
          <p:cNvSpPr>
            <a:spLocks noGrp="1"/>
          </p:cNvSpPr>
          <p:nvPr/>
        </p:nvSpPr>
        <p:spPr>
          <a:xfrm>
            <a:off x="9096375" y="5067300"/>
            <a:ext cx="76676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8418AA6-6CF9-4EC0-B0C6-ACAD86349A61}"/>
              </a:ext>
            </a:extLst>
          </p:cNvPr>
          <p:cNvSpPr>
            <a:spLocks noGrp="1"/>
          </p:cNvSpPr>
          <p:nvPr/>
        </p:nvSpPr>
        <p:spPr>
          <a:xfrm>
            <a:off x="9267825" y="52578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callout-3-number">
            <a:extLst>
              <a:ext uri="{FF2B5EF4-FFF2-40B4-BE49-F238E27FC236}">
                <a16:creationId xmlns:a16="http://schemas.microsoft.com/office/drawing/2014/main" id="{5BD60828-D675-4C40-AE55-36A3C42661E9}"/>
              </a:ext>
            </a:extLst>
          </p:cNvPr>
          <p:cNvSpPr>
            <a:spLocks noGrp="1"/>
          </p:cNvSpPr>
          <p:nvPr/>
        </p:nvSpPr>
        <p:spPr>
          <a:xfrm>
            <a:off x="9372600" y="5295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callout-3-title">
            <a:extLst>
              <a:ext uri="{FF2B5EF4-FFF2-40B4-BE49-F238E27FC236}">
                <a16:creationId xmlns:a16="http://schemas.microsoft.com/office/drawing/2014/main" id="{F9C5424D-2040-47B6-91CD-C48AE6A62517}"/>
              </a:ext>
            </a:extLst>
          </p:cNvPr>
          <p:cNvSpPr>
            <a:spLocks noGrp="1"/>
          </p:cNvSpPr>
          <p:nvPr/>
        </p:nvSpPr>
        <p:spPr>
          <a:xfrm>
            <a:off x="9753600" y="5238750"/>
            <a:ext cx="6810375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开始测试</a:t>
            </a:r>
          </a:p>
        </p:txBody>
      </p:sp>
      <p:sp>
        <p:nvSpPr>
          <p:cNvPr id="38" name="callout-3-body">
            <a:extLst>
              <a:ext uri="{FF2B5EF4-FFF2-40B4-BE49-F238E27FC236}">
                <a16:creationId xmlns:a16="http://schemas.microsoft.com/office/drawing/2014/main" id="{1B04A424-D1DD-40A4-B1ED-1C9A4A4EFE0A}"/>
              </a:ext>
            </a:extLst>
          </p:cNvPr>
          <p:cNvSpPr>
            <a:spLocks noGrp="1"/>
          </p:cNvSpPr>
          <p:nvPr/>
        </p:nvSpPr>
        <p:spPr>
          <a:xfrm>
            <a:off x="9753600" y="5581650"/>
            <a:ext cx="682942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 dirty="0" err="1">
                <a:solidFill>
                  <a:srgbClr val="50617A"/>
                </a:solidFill>
              </a:rPr>
              <a:t>点击后进入合闸前测试，开始按</a:t>
            </a:r>
            <a:r>
              <a:rPr lang="zh-CN" altLang="en-US" sz="1350" dirty="0">
                <a:solidFill>
                  <a:srgbClr val="50617A"/>
                </a:solidFill>
              </a:rPr>
              <a:t>步骤</a:t>
            </a:r>
            <a:r>
              <a:rPr sz="1350" dirty="0" err="1">
                <a:solidFill>
                  <a:srgbClr val="50617A"/>
                </a:solidFill>
              </a:rPr>
              <a:t>完成检查</a:t>
            </a:r>
            <a:r>
              <a:rPr sz="1350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6197C222-9089-4CD7-B2E6-1DE3CCE9F822}"/>
              </a:ext>
            </a:extLst>
          </p:cNvPr>
          <p:cNvSpPr>
            <a:spLocks noGrp="1"/>
          </p:cNvSpPr>
          <p:nvPr/>
        </p:nvSpPr>
        <p:spPr>
          <a:xfrm>
            <a:off x="9096375" y="6610350"/>
            <a:ext cx="76676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F7AD4A53-2EBB-4631-9D0E-533C88F3F700}"/>
              </a:ext>
            </a:extLst>
          </p:cNvPr>
          <p:cNvSpPr>
            <a:spLocks noGrp="1"/>
          </p:cNvSpPr>
          <p:nvPr/>
        </p:nvSpPr>
        <p:spPr>
          <a:xfrm>
            <a:off x="9267825" y="68008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callout-4-number">
            <a:extLst>
              <a:ext uri="{FF2B5EF4-FFF2-40B4-BE49-F238E27FC236}">
                <a16:creationId xmlns:a16="http://schemas.microsoft.com/office/drawing/2014/main" id="{5AFEFDA8-1C2B-4A13-87CA-A2D3150395BE}"/>
              </a:ext>
            </a:extLst>
          </p:cNvPr>
          <p:cNvSpPr>
            <a:spLocks noGrp="1"/>
          </p:cNvSpPr>
          <p:nvPr/>
        </p:nvSpPr>
        <p:spPr>
          <a:xfrm>
            <a:off x="9372600" y="68389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callout-4-title">
            <a:extLst>
              <a:ext uri="{FF2B5EF4-FFF2-40B4-BE49-F238E27FC236}">
                <a16:creationId xmlns:a16="http://schemas.microsoft.com/office/drawing/2014/main" id="{9C10370B-C391-4C1D-9C14-FC62B632A7C9}"/>
              </a:ext>
            </a:extLst>
          </p:cNvPr>
          <p:cNvSpPr>
            <a:spLocks noGrp="1"/>
          </p:cNvSpPr>
          <p:nvPr/>
        </p:nvSpPr>
        <p:spPr>
          <a:xfrm>
            <a:off x="9753600" y="6781800"/>
            <a:ext cx="6810375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状态提示区</a:t>
            </a:r>
          </a:p>
        </p:txBody>
      </p:sp>
      <p:sp>
        <p:nvSpPr>
          <p:cNvPr id="43" name="callout-4-body">
            <a:extLst>
              <a:ext uri="{FF2B5EF4-FFF2-40B4-BE49-F238E27FC236}">
                <a16:creationId xmlns:a16="http://schemas.microsoft.com/office/drawing/2014/main" id="{41611AF5-4BEA-4BC1-ADF0-B01153B12E0C}"/>
              </a:ext>
            </a:extLst>
          </p:cNvPr>
          <p:cNvSpPr>
            <a:spLocks noGrp="1"/>
          </p:cNvSpPr>
          <p:nvPr/>
        </p:nvSpPr>
        <p:spPr>
          <a:xfrm>
            <a:off x="9753600" y="7124700"/>
            <a:ext cx="682942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集中显示母排、参考基准、中性点等当前系统状态。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B614D22-A073-4BAE-AB96-556595166A64}"/>
              </a:ext>
            </a:extLst>
          </p:cNvPr>
          <p:cNvSpPr>
            <a:spLocks noGrp="1"/>
          </p:cNvSpPr>
          <p:nvPr/>
        </p:nvSpPr>
        <p:spPr>
          <a:xfrm>
            <a:off x="0" y="9963150"/>
            <a:ext cx="18288000" cy="323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48A7ABC8-1DC3-472C-9AD6-2946BAE71DAF}"/>
              </a:ext>
            </a:extLst>
          </p:cNvPr>
          <p:cNvSpPr>
            <a:spLocks noGrp="1"/>
          </p:cNvSpPr>
          <p:nvPr/>
        </p:nvSpPr>
        <p:spPr>
          <a:xfrm>
            <a:off x="685800" y="100393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三相并网仿真教学系统界面介绍</a:t>
            </a:r>
          </a:p>
        </p:txBody>
      </p:sp>
    </p:spTree>
    <p:extLst>
      <p:ext uri="{BB962C8B-B14F-4D97-AF65-F5344CB8AC3E}">
        <p14:creationId xmlns:p14="http://schemas.microsoft.com/office/powerpoint/2010/main" val="76887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8DDD636C-2079-4F57-9BF4-6A1783FC1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7F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CEF78A-24F6-4FA9-A875-ABBE50C859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04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EA9F2C-6D20-4E0F-AAD2-434B59703CB7}"/>
              </a:ext>
            </a:extLst>
          </p:cNvPr>
          <p:cNvSpPr>
            <a:spLocks noGrp="1"/>
          </p:cNvSpPr>
          <p:nvPr/>
        </p:nvSpPr>
        <p:spPr>
          <a:xfrm>
            <a:off x="0" y="1085850"/>
            <a:ext cx="18288000" cy="19050"/>
          </a:xfrm>
          <a:prstGeom prst="rect">
            <a:avLst/>
          </a:prstGeom>
          <a:solidFill>
            <a:srgbClr val="D8E2F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684CAD3-4664-4D3B-AB94-AAA29AE2885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33350" cy="514350"/>
          </a:xfrm>
          <a:prstGeom prst="roundRect">
            <a:avLst>
              <a:gd name="adj" fmla="val 50000"/>
            </a:avLst>
          </a:prstGeom>
          <a:solidFill>
            <a:srgbClr val="2456D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lide-2-title">
            <a:extLst>
              <a:ext uri="{FF2B5EF4-FFF2-40B4-BE49-F238E27FC236}">
                <a16:creationId xmlns:a16="http://schemas.microsoft.com/office/drawing/2014/main" id="{8EECB4C7-1FFA-4B71-84AC-74F61EBFDF9B}"/>
              </a:ext>
            </a:extLst>
          </p:cNvPr>
          <p:cNvSpPr>
            <a:spLocks noGrp="1"/>
          </p:cNvSpPr>
          <p:nvPr/>
        </p:nvSpPr>
        <p:spPr>
          <a:xfrm>
            <a:off x="876300" y="247650"/>
            <a:ext cx="11239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故障与流程模式选择</a:t>
            </a:r>
          </a:p>
        </p:txBody>
      </p:sp>
      <p:sp>
        <p:nvSpPr>
          <p:cNvPr id="6" name="slide-2-subtitle">
            <a:extLst>
              <a:ext uri="{FF2B5EF4-FFF2-40B4-BE49-F238E27FC236}">
                <a16:creationId xmlns:a16="http://schemas.microsoft.com/office/drawing/2014/main" id="{C9CB4B50-09F4-498A-84AD-ED079C14D685}"/>
              </a:ext>
            </a:extLst>
          </p:cNvPr>
          <p:cNvSpPr>
            <a:spLocks noGrp="1"/>
          </p:cNvSpPr>
          <p:nvPr/>
        </p:nvSpPr>
        <p:spPr>
          <a:xfrm>
            <a:off x="895350" y="704850"/>
            <a:ext cx="1066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进入测试前选择具体故障场景，并决定教学、工程或考核流程规则。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48D8186-269C-4CAC-8D9E-3BB5F403D3D7}"/>
              </a:ext>
            </a:extLst>
          </p:cNvPr>
          <p:cNvSpPr>
            <a:spLocks noGrp="1"/>
          </p:cNvSpPr>
          <p:nvPr/>
        </p:nvSpPr>
        <p:spPr>
          <a:xfrm>
            <a:off x="16287750" y="342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EEF4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lide-2-counter">
            <a:extLst>
              <a:ext uri="{FF2B5EF4-FFF2-40B4-BE49-F238E27FC236}">
                <a16:creationId xmlns:a16="http://schemas.microsoft.com/office/drawing/2014/main" id="{22805AB1-D270-4862-A40D-0F017E6F70CC}"/>
              </a:ext>
            </a:extLst>
          </p:cNvPr>
          <p:cNvSpPr>
            <a:spLocks noGrp="1"/>
          </p:cNvSpPr>
          <p:nvPr/>
        </p:nvSpPr>
        <p:spPr>
          <a:xfrm>
            <a:off x="16611600" y="4191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56D6"/>
                </a:solidFill>
              </a:defRPr>
            </a:pPr>
            <a:r>
              <a:rPr lang="en-US" altLang="zh-CN" sz="1500" b="1" dirty="0">
                <a:solidFill>
                  <a:srgbClr val="2456D6"/>
                </a:solidFill>
              </a:rPr>
              <a:t>4</a:t>
            </a:r>
            <a:r>
              <a:rPr sz="1500" b="1" dirty="0">
                <a:solidFill>
                  <a:srgbClr val="2456D6"/>
                </a:solidFill>
              </a:rPr>
              <a:t> / 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920FA3F-65F6-454D-9916-287D54A7A886}"/>
              </a:ext>
            </a:extLst>
          </p:cNvPr>
          <p:cNvSpPr>
            <a:spLocks noGrp="1"/>
          </p:cNvSpPr>
          <p:nvPr/>
        </p:nvSpPr>
        <p:spPr>
          <a:xfrm>
            <a:off x="419100" y="1390650"/>
            <a:ext cx="11753850" cy="8248650"/>
          </a:xfrm>
          <a:prstGeom prst="roundRect">
            <a:avLst>
              <a:gd name="adj" fmla="val 924"/>
            </a:avLst>
          </a:prstGeom>
          <a:solidFill>
            <a:srgbClr val="FFFFFF"/>
          </a:solidFill>
          <a:ln w="190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506431"/>
            <a:ext cx="11525250" cy="8017087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4164F909-BC5D-4384-B959-3CB5F93B4088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1325225" cy="50482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3471DF6-FF54-47BF-8D46-DD23B70959A0}"/>
              </a:ext>
            </a:extLst>
          </p:cNvPr>
          <p:cNvSpPr>
            <a:spLocks noGrp="1"/>
          </p:cNvSpPr>
          <p:nvPr/>
        </p:nvSpPr>
        <p:spPr>
          <a:xfrm>
            <a:off x="552450" y="180022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highlight-1">
            <a:extLst>
              <a:ext uri="{FF2B5EF4-FFF2-40B4-BE49-F238E27FC236}">
                <a16:creationId xmlns:a16="http://schemas.microsoft.com/office/drawing/2014/main" id="{6796DF4F-011C-4948-8C3B-7F875A0F1E8C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E94A51C-C077-419B-8766-7F457529D7AB}"/>
              </a:ext>
            </a:extLst>
          </p:cNvPr>
          <p:cNvSpPr>
            <a:spLocks noGrp="1"/>
          </p:cNvSpPr>
          <p:nvPr/>
        </p:nvSpPr>
        <p:spPr>
          <a:xfrm>
            <a:off x="619125" y="2543175"/>
            <a:ext cx="8086725" cy="479107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530B10C-7859-44CA-B1C1-34C1F0B6DAF1}"/>
              </a:ext>
            </a:extLst>
          </p:cNvPr>
          <p:cNvSpPr>
            <a:spLocks noGrp="1"/>
          </p:cNvSpPr>
          <p:nvPr/>
        </p:nvSpPr>
        <p:spPr>
          <a:xfrm>
            <a:off x="552450" y="240982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highlight-2">
            <a:extLst>
              <a:ext uri="{FF2B5EF4-FFF2-40B4-BE49-F238E27FC236}">
                <a16:creationId xmlns:a16="http://schemas.microsoft.com/office/drawing/2014/main" id="{7DB0AED8-12EA-4239-83F3-6E689F55A3B3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B0C1A28-FF01-4F8A-91E4-F0B558E2F826}"/>
              </a:ext>
            </a:extLst>
          </p:cNvPr>
          <p:cNvSpPr>
            <a:spLocks noGrp="1"/>
          </p:cNvSpPr>
          <p:nvPr/>
        </p:nvSpPr>
        <p:spPr>
          <a:xfrm>
            <a:off x="647700" y="3705225"/>
            <a:ext cx="6162675" cy="342900"/>
          </a:xfrm>
          <a:prstGeom prst="ellipse">
            <a:avLst/>
          </a:prstGeom>
          <a:noFill/>
          <a:ln w="476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FD9997A-449D-4292-815A-0D25FD1A8CB4}"/>
              </a:ext>
            </a:extLst>
          </p:cNvPr>
          <p:cNvSpPr>
            <a:spLocks noGrp="1"/>
          </p:cNvSpPr>
          <p:nvPr/>
        </p:nvSpPr>
        <p:spPr>
          <a:xfrm>
            <a:off x="552450" y="357187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highlight-3">
            <a:extLst>
              <a:ext uri="{FF2B5EF4-FFF2-40B4-BE49-F238E27FC236}">
                <a16:creationId xmlns:a16="http://schemas.microsoft.com/office/drawing/2014/main" id="{8515FFF4-F849-4264-8EC6-A0438302C273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7E86C93-9177-480E-A5E6-01DF48F969C1}"/>
              </a:ext>
            </a:extLst>
          </p:cNvPr>
          <p:cNvSpPr>
            <a:spLocks noGrp="1"/>
          </p:cNvSpPr>
          <p:nvPr/>
        </p:nvSpPr>
        <p:spPr>
          <a:xfrm>
            <a:off x="647700" y="7677150"/>
            <a:ext cx="11325225" cy="130492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5231318-3171-4E2A-9179-1E0CAA8FECC0}"/>
              </a:ext>
            </a:extLst>
          </p:cNvPr>
          <p:cNvSpPr>
            <a:spLocks noGrp="1"/>
          </p:cNvSpPr>
          <p:nvPr/>
        </p:nvSpPr>
        <p:spPr>
          <a:xfrm>
            <a:off x="552450" y="75438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ighlight-4">
            <a:extLst>
              <a:ext uri="{FF2B5EF4-FFF2-40B4-BE49-F238E27FC236}">
                <a16:creationId xmlns:a16="http://schemas.microsoft.com/office/drawing/2014/main" id="{A2D2DB68-B94D-49C8-A237-A318CD4EE38D}"/>
              </a:ext>
            </a:extLst>
          </p:cNvPr>
          <p:cNvSpPr>
            <a:spLocks noGrp="1"/>
          </p:cNvSpPr>
          <p:nvPr/>
        </p:nvSpPr>
        <p:spPr>
          <a:xfrm>
            <a:off x="64770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C7692A2-1717-486C-8D1A-463A52CEF79D}"/>
              </a:ext>
            </a:extLst>
          </p:cNvPr>
          <p:cNvSpPr>
            <a:spLocks noGrp="1"/>
          </p:cNvSpPr>
          <p:nvPr/>
        </p:nvSpPr>
        <p:spPr>
          <a:xfrm>
            <a:off x="10629900" y="9048750"/>
            <a:ext cx="1343025" cy="400050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2DB6313-9AFC-49F9-A7E1-53B0DA83ABFA}"/>
              </a:ext>
            </a:extLst>
          </p:cNvPr>
          <p:cNvSpPr>
            <a:spLocks noGrp="1"/>
          </p:cNvSpPr>
          <p:nvPr/>
        </p:nvSpPr>
        <p:spPr>
          <a:xfrm>
            <a:off x="10496550" y="89154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highlight-5">
            <a:extLst>
              <a:ext uri="{FF2B5EF4-FFF2-40B4-BE49-F238E27FC236}">
                <a16:creationId xmlns:a16="http://schemas.microsoft.com/office/drawing/2014/main" id="{52EC79DE-8916-4D7B-B017-6CFBB9B9E69E}"/>
              </a:ext>
            </a:extLst>
          </p:cNvPr>
          <p:cNvSpPr>
            <a:spLocks noGrp="1"/>
          </p:cNvSpPr>
          <p:nvPr/>
        </p:nvSpPr>
        <p:spPr>
          <a:xfrm>
            <a:off x="10591800" y="8953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callout-heading">
            <a:extLst>
              <a:ext uri="{FF2B5EF4-FFF2-40B4-BE49-F238E27FC236}">
                <a16:creationId xmlns:a16="http://schemas.microsoft.com/office/drawing/2014/main" id="{01B3B64F-C95F-44FC-8466-05084FD16D49}"/>
              </a:ext>
            </a:extLst>
          </p:cNvPr>
          <p:cNvSpPr>
            <a:spLocks noGrp="1"/>
          </p:cNvSpPr>
          <p:nvPr/>
        </p:nvSpPr>
        <p:spPr>
          <a:xfrm>
            <a:off x="12573000" y="146685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rPr sz="1800" b="1">
                <a:solidFill>
                  <a:srgbClr val="E11D48"/>
                </a:solidFill>
              </a:rPr>
              <a:t>圈注说明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78558B35-D933-4797-8196-62E772A96D19}"/>
              </a:ext>
            </a:extLst>
          </p:cNvPr>
          <p:cNvSpPr>
            <a:spLocks noGrp="1"/>
          </p:cNvSpPr>
          <p:nvPr/>
        </p:nvSpPr>
        <p:spPr>
          <a:xfrm>
            <a:off x="12573000" y="1866900"/>
            <a:ext cx="4953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5426F696-30DC-4ADF-B6DC-401497BB2E01}"/>
              </a:ext>
            </a:extLst>
          </p:cNvPr>
          <p:cNvSpPr>
            <a:spLocks noGrp="1"/>
          </p:cNvSpPr>
          <p:nvPr/>
        </p:nvSpPr>
        <p:spPr>
          <a:xfrm>
            <a:off x="12744450" y="20574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allout-1-number">
            <a:extLst>
              <a:ext uri="{FF2B5EF4-FFF2-40B4-BE49-F238E27FC236}">
                <a16:creationId xmlns:a16="http://schemas.microsoft.com/office/drawing/2014/main" id="{2A0D25FE-C46C-4967-9D01-6328F7C76BBF}"/>
              </a:ext>
            </a:extLst>
          </p:cNvPr>
          <p:cNvSpPr>
            <a:spLocks noGrp="1"/>
          </p:cNvSpPr>
          <p:nvPr/>
        </p:nvSpPr>
        <p:spPr>
          <a:xfrm>
            <a:off x="12839700" y="2095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callout-1-title">
            <a:extLst>
              <a:ext uri="{FF2B5EF4-FFF2-40B4-BE49-F238E27FC236}">
                <a16:creationId xmlns:a16="http://schemas.microsoft.com/office/drawing/2014/main" id="{D8E4A011-BD69-49B8-B007-A81A939B11A2}"/>
              </a:ext>
            </a:extLst>
          </p:cNvPr>
          <p:cNvSpPr>
            <a:spLocks noGrp="1"/>
          </p:cNvSpPr>
          <p:nvPr/>
        </p:nvSpPr>
        <p:spPr>
          <a:xfrm>
            <a:off x="13220700" y="20383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选择说明</a:t>
            </a:r>
          </a:p>
        </p:txBody>
      </p:sp>
      <p:sp>
        <p:nvSpPr>
          <p:cNvPr id="31" name="callout-1-body">
            <a:extLst>
              <a:ext uri="{FF2B5EF4-FFF2-40B4-BE49-F238E27FC236}">
                <a16:creationId xmlns:a16="http://schemas.microsoft.com/office/drawing/2014/main" id="{C12C13ED-2D3C-4FE6-9350-EA98D2E684BF}"/>
              </a:ext>
            </a:extLst>
          </p:cNvPr>
          <p:cNvSpPr>
            <a:spLocks noGrp="1"/>
          </p:cNvSpPr>
          <p:nvPr/>
        </p:nvSpPr>
        <p:spPr>
          <a:xfrm>
            <a:off x="13220700" y="2381250"/>
            <a:ext cx="41148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顶部提示当前窗口用途，说明进入测试后会显示具体场景信息。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D805A3B1-16A9-471F-A68B-8018A479B54E}"/>
              </a:ext>
            </a:extLst>
          </p:cNvPr>
          <p:cNvSpPr>
            <a:spLocks noGrp="1"/>
          </p:cNvSpPr>
          <p:nvPr/>
        </p:nvSpPr>
        <p:spPr>
          <a:xfrm>
            <a:off x="12573000" y="3219450"/>
            <a:ext cx="4953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976AE99-172E-40D1-918E-FD89ED91B05E}"/>
              </a:ext>
            </a:extLst>
          </p:cNvPr>
          <p:cNvSpPr>
            <a:spLocks noGrp="1"/>
          </p:cNvSpPr>
          <p:nvPr/>
        </p:nvSpPr>
        <p:spPr>
          <a:xfrm>
            <a:off x="12744450" y="34099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callout-2-number">
            <a:extLst>
              <a:ext uri="{FF2B5EF4-FFF2-40B4-BE49-F238E27FC236}">
                <a16:creationId xmlns:a16="http://schemas.microsoft.com/office/drawing/2014/main" id="{A2696D74-C2DC-4A02-BBA8-0001379D1334}"/>
              </a:ext>
            </a:extLst>
          </p:cNvPr>
          <p:cNvSpPr>
            <a:spLocks noGrp="1"/>
          </p:cNvSpPr>
          <p:nvPr/>
        </p:nvSpPr>
        <p:spPr>
          <a:xfrm>
            <a:off x="12839700" y="3448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callout-2-title">
            <a:extLst>
              <a:ext uri="{FF2B5EF4-FFF2-40B4-BE49-F238E27FC236}">
                <a16:creationId xmlns:a16="http://schemas.microsoft.com/office/drawing/2014/main" id="{36443BFD-950F-4151-B99D-18A52F02AB50}"/>
              </a:ext>
            </a:extLst>
          </p:cNvPr>
          <p:cNvSpPr>
            <a:spLocks noGrp="1"/>
          </p:cNvSpPr>
          <p:nvPr/>
        </p:nvSpPr>
        <p:spPr>
          <a:xfrm>
            <a:off x="13220700" y="339090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故障列表</a:t>
            </a:r>
          </a:p>
        </p:txBody>
      </p:sp>
      <p:sp>
        <p:nvSpPr>
          <p:cNvPr id="36" name="callout-2-body">
            <a:extLst>
              <a:ext uri="{FF2B5EF4-FFF2-40B4-BE49-F238E27FC236}">
                <a16:creationId xmlns:a16="http://schemas.microsoft.com/office/drawing/2014/main" id="{AFE9BDB6-B40F-49D9-B40B-CBD8AB7C60B0}"/>
              </a:ext>
            </a:extLst>
          </p:cNvPr>
          <p:cNvSpPr>
            <a:spLocks noGrp="1"/>
          </p:cNvSpPr>
          <p:nvPr/>
        </p:nvSpPr>
        <p:spPr>
          <a:xfrm>
            <a:off x="13220700" y="373380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按正常、接线错误、数值异常等类型选择训练内容。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2D6D4816-467D-4878-8B80-110A25A0D345}"/>
              </a:ext>
            </a:extLst>
          </p:cNvPr>
          <p:cNvSpPr>
            <a:spLocks noGrp="1"/>
          </p:cNvSpPr>
          <p:nvPr/>
        </p:nvSpPr>
        <p:spPr>
          <a:xfrm>
            <a:off x="12573000" y="4572000"/>
            <a:ext cx="4953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3D4086F-8083-44FE-8EF6-B841D9306AED}"/>
              </a:ext>
            </a:extLst>
          </p:cNvPr>
          <p:cNvSpPr>
            <a:spLocks noGrp="1"/>
          </p:cNvSpPr>
          <p:nvPr/>
        </p:nvSpPr>
        <p:spPr>
          <a:xfrm>
            <a:off x="12744450" y="47625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callout-3-number">
            <a:extLst>
              <a:ext uri="{FF2B5EF4-FFF2-40B4-BE49-F238E27FC236}">
                <a16:creationId xmlns:a16="http://schemas.microsoft.com/office/drawing/2014/main" id="{99C043EA-DABB-4E4C-A34C-E5E0517F0372}"/>
              </a:ext>
            </a:extLst>
          </p:cNvPr>
          <p:cNvSpPr>
            <a:spLocks noGrp="1"/>
          </p:cNvSpPr>
          <p:nvPr/>
        </p:nvSpPr>
        <p:spPr>
          <a:xfrm>
            <a:off x="12839700" y="4800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callout-3-title">
            <a:extLst>
              <a:ext uri="{FF2B5EF4-FFF2-40B4-BE49-F238E27FC236}">
                <a16:creationId xmlns:a16="http://schemas.microsoft.com/office/drawing/2014/main" id="{3EAFAF27-B3F6-4C5F-AF8A-5A6D3ABF4111}"/>
              </a:ext>
            </a:extLst>
          </p:cNvPr>
          <p:cNvSpPr>
            <a:spLocks noGrp="1"/>
          </p:cNvSpPr>
          <p:nvPr/>
        </p:nvSpPr>
        <p:spPr>
          <a:xfrm>
            <a:off x="13220700" y="47434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当前选中项</a:t>
            </a:r>
          </a:p>
        </p:txBody>
      </p:sp>
      <p:sp>
        <p:nvSpPr>
          <p:cNvPr id="41" name="callout-3-body">
            <a:extLst>
              <a:ext uri="{FF2B5EF4-FFF2-40B4-BE49-F238E27FC236}">
                <a16:creationId xmlns:a16="http://schemas.microsoft.com/office/drawing/2014/main" id="{BC4B9B00-28FC-46F0-836C-ED8D419D44EA}"/>
              </a:ext>
            </a:extLst>
          </p:cNvPr>
          <p:cNvSpPr>
            <a:spLocks noGrp="1"/>
          </p:cNvSpPr>
          <p:nvPr/>
        </p:nvSpPr>
        <p:spPr>
          <a:xfrm>
            <a:off x="13220700" y="508635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蓝色圆点表示已选场景，确认前可继续切换。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C04F4697-BC04-4A54-935A-88A776D72E6B}"/>
              </a:ext>
            </a:extLst>
          </p:cNvPr>
          <p:cNvSpPr>
            <a:spLocks noGrp="1"/>
          </p:cNvSpPr>
          <p:nvPr/>
        </p:nvSpPr>
        <p:spPr>
          <a:xfrm>
            <a:off x="12573000" y="5924550"/>
            <a:ext cx="4953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25C47BA9-0F0A-420C-915B-8E752AE7BA0E}"/>
              </a:ext>
            </a:extLst>
          </p:cNvPr>
          <p:cNvSpPr>
            <a:spLocks noGrp="1"/>
          </p:cNvSpPr>
          <p:nvPr/>
        </p:nvSpPr>
        <p:spPr>
          <a:xfrm>
            <a:off x="12744450" y="61150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allout-4-number">
            <a:extLst>
              <a:ext uri="{FF2B5EF4-FFF2-40B4-BE49-F238E27FC236}">
                <a16:creationId xmlns:a16="http://schemas.microsoft.com/office/drawing/2014/main" id="{0256B521-B1E1-4C74-B5E0-272F64D6177B}"/>
              </a:ext>
            </a:extLst>
          </p:cNvPr>
          <p:cNvSpPr>
            <a:spLocks noGrp="1"/>
          </p:cNvSpPr>
          <p:nvPr/>
        </p:nvSpPr>
        <p:spPr>
          <a:xfrm>
            <a:off x="12839700" y="61531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callout-4-title">
            <a:extLst>
              <a:ext uri="{FF2B5EF4-FFF2-40B4-BE49-F238E27FC236}">
                <a16:creationId xmlns:a16="http://schemas.microsoft.com/office/drawing/2014/main" id="{968FB8C1-FEC7-4411-B992-2682AB68835E}"/>
              </a:ext>
            </a:extLst>
          </p:cNvPr>
          <p:cNvSpPr>
            <a:spLocks noGrp="1"/>
          </p:cNvSpPr>
          <p:nvPr/>
        </p:nvSpPr>
        <p:spPr>
          <a:xfrm>
            <a:off x="13220700" y="609600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流程模式</a:t>
            </a:r>
          </a:p>
        </p:txBody>
      </p:sp>
      <p:sp>
        <p:nvSpPr>
          <p:cNvPr id="46" name="callout-4-body">
            <a:extLst>
              <a:ext uri="{FF2B5EF4-FFF2-40B4-BE49-F238E27FC236}">
                <a16:creationId xmlns:a16="http://schemas.microsoft.com/office/drawing/2014/main" id="{0AA4031A-5136-4B79-9AE8-AEA447FB0803}"/>
              </a:ext>
            </a:extLst>
          </p:cNvPr>
          <p:cNvSpPr>
            <a:spLocks noGrp="1"/>
          </p:cNvSpPr>
          <p:nvPr/>
        </p:nvSpPr>
        <p:spPr>
          <a:xfrm>
            <a:off x="13220700" y="6438900"/>
            <a:ext cx="41148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教学模式允许带故障继续；工程/考核模式会限制通过条件。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F72B434-465E-443E-BB08-57DC84D667CF}"/>
              </a:ext>
            </a:extLst>
          </p:cNvPr>
          <p:cNvSpPr>
            <a:spLocks noGrp="1"/>
          </p:cNvSpPr>
          <p:nvPr/>
        </p:nvSpPr>
        <p:spPr>
          <a:xfrm>
            <a:off x="12573000" y="7277100"/>
            <a:ext cx="4953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62F46799-9BCD-4775-822D-79440F52679F}"/>
              </a:ext>
            </a:extLst>
          </p:cNvPr>
          <p:cNvSpPr>
            <a:spLocks noGrp="1"/>
          </p:cNvSpPr>
          <p:nvPr/>
        </p:nvSpPr>
        <p:spPr>
          <a:xfrm>
            <a:off x="12744450" y="74676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callout-5-number">
            <a:extLst>
              <a:ext uri="{FF2B5EF4-FFF2-40B4-BE49-F238E27FC236}">
                <a16:creationId xmlns:a16="http://schemas.microsoft.com/office/drawing/2014/main" id="{EAB9080F-F837-4B17-AFA9-6AF4E69813C0}"/>
              </a:ext>
            </a:extLst>
          </p:cNvPr>
          <p:cNvSpPr>
            <a:spLocks noGrp="1"/>
          </p:cNvSpPr>
          <p:nvPr/>
        </p:nvSpPr>
        <p:spPr>
          <a:xfrm>
            <a:off x="12839700" y="75057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callout-5-title">
            <a:extLst>
              <a:ext uri="{FF2B5EF4-FFF2-40B4-BE49-F238E27FC236}">
                <a16:creationId xmlns:a16="http://schemas.microsoft.com/office/drawing/2014/main" id="{662FC343-0163-4574-B3E3-B47B60EDAC81}"/>
              </a:ext>
            </a:extLst>
          </p:cNvPr>
          <p:cNvSpPr>
            <a:spLocks noGrp="1"/>
          </p:cNvSpPr>
          <p:nvPr/>
        </p:nvSpPr>
        <p:spPr>
          <a:xfrm>
            <a:off x="13220700" y="7448550"/>
            <a:ext cx="4095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确认进入</a:t>
            </a:r>
          </a:p>
        </p:txBody>
      </p:sp>
      <p:sp>
        <p:nvSpPr>
          <p:cNvPr id="51" name="callout-5-body">
            <a:extLst>
              <a:ext uri="{FF2B5EF4-FFF2-40B4-BE49-F238E27FC236}">
                <a16:creationId xmlns:a16="http://schemas.microsoft.com/office/drawing/2014/main" id="{84C7CEDB-0BA1-4ACB-B722-10E8C7E51BF2}"/>
              </a:ext>
            </a:extLst>
          </p:cNvPr>
          <p:cNvSpPr>
            <a:spLocks noGrp="1"/>
          </p:cNvSpPr>
          <p:nvPr/>
        </p:nvSpPr>
        <p:spPr>
          <a:xfrm>
            <a:off x="13220700" y="7791450"/>
            <a:ext cx="4114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载入故障和流程配置，返回主流程继续测试。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41300A3-CA31-48F2-93DF-129E094FE1C7}"/>
              </a:ext>
            </a:extLst>
          </p:cNvPr>
          <p:cNvSpPr>
            <a:spLocks noGrp="1"/>
          </p:cNvSpPr>
          <p:nvPr/>
        </p:nvSpPr>
        <p:spPr>
          <a:xfrm>
            <a:off x="0" y="9963150"/>
            <a:ext cx="18288000" cy="323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footer">
            <a:extLst>
              <a:ext uri="{FF2B5EF4-FFF2-40B4-BE49-F238E27FC236}">
                <a16:creationId xmlns:a16="http://schemas.microsoft.com/office/drawing/2014/main" id="{81E10DCC-26F0-4682-A81F-5C3AE7902AEB}"/>
              </a:ext>
            </a:extLst>
          </p:cNvPr>
          <p:cNvSpPr>
            <a:spLocks noGrp="1"/>
          </p:cNvSpPr>
          <p:nvPr/>
        </p:nvSpPr>
        <p:spPr>
          <a:xfrm>
            <a:off x="685800" y="100393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三相并网仿真教学系统界面介绍</a:t>
            </a:r>
          </a:p>
        </p:txBody>
      </p:sp>
    </p:spTree>
    <p:extLst>
      <p:ext uri="{BB962C8B-B14F-4D97-AF65-F5344CB8AC3E}">
        <p14:creationId xmlns:p14="http://schemas.microsoft.com/office/powerpoint/2010/main" val="183383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05594D9C-C025-4F40-82D1-78E55F8E9816}"/>
              </a:ext>
            </a:extLst>
          </p:cNvPr>
          <p:cNvSpPr>
            <a:spLocks noGrp="1"/>
          </p:cNvSpPr>
          <p:nvPr/>
        </p:nvSpPr>
        <p:spPr>
          <a:xfrm>
            <a:off x="0" y="368754"/>
            <a:ext cx="18288000" cy="10287000"/>
          </a:xfrm>
          <a:prstGeom prst="rect">
            <a:avLst/>
          </a:prstGeom>
          <a:solidFill>
            <a:srgbClr val="F5F7F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9BF0B2-F3D7-4685-AE48-E1E14C7C4F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04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D2EEF2-E3C5-42F0-901E-078631B4088C}"/>
              </a:ext>
            </a:extLst>
          </p:cNvPr>
          <p:cNvSpPr>
            <a:spLocks noGrp="1"/>
          </p:cNvSpPr>
          <p:nvPr/>
        </p:nvSpPr>
        <p:spPr>
          <a:xfrm>
            <a:off x="0" y="1085850"/>
            <a:ext cx="18288000" cy="19050"/>
          </a:xfrm>
          <a:prstGeom prst="rect">
            <a:avLst/>
          </a:prstGeom>
          <a:solidFill>
            <a:srgbClr val="D8E2F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1815ACF-C909-44F4-9BD9-B6A98F0F05D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33350" cy="514350"/>
          </a:xfrm>
          <a:prstGeom prst="roundRect">
            <a:avLst>
              <a:gd name="adj" fmla="val 50000"/>
            </a:avLst>
          </a:prstGeom>
          <a:solidFill>
            <a:srgbClr val="2456D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lide-3-title">
            <a:extLst>
              <a:ext uri="{FF2B5EF4-FFF2-40B4-BE49-F238E27FC236}">
                <a16:creationId xmlns:a16="http://schemas.microsoft.com/office/drawing/2014/main" id="{18FF57E4-948A-4D5C-AC91-9DA19D54F81E}"/>
              </a:ext>
            </a:extLst>
          </p:cNvPr>
          <p:cNvSpPr>
            <a:spLocks noGrp="1"/>
          </p:cNvSpPr>
          <p:nvPr/>
        </p:nvSpPr>
        <p:spPr>
          <a:xfrm>
            <a:off x="876300" y="247650"/>
            <a:ext cx="11239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第一步控制面板：合闸前检查</a:t>
            </a:r>
          </a:p>
        </p:txBody>
      </p:sp>
      <p:sp>
        <p:nvSpPr>
          <p:cNvPr id="6" name="slide-3-subtitle">
            <a:extLst>
              <a:ext uri="{FF2B5EF4-FFF2-40B4-BE49-F238E27FC236}">
                <a16:creationId xmlns:a16="http://schemas.microsoft.com/office/drawing/2014/main" id="{0BDAF3D7-80C8-48E9-8B0E-F0B553C0BC31}"/>
              </a:ext>
            </a:extLst>
          </p:cNvPr>
          <p:cNvSpPr>
            <a:spLocks noGrp="1"/>
          </p:cNvSpPr>
          <p:nvPr/>
        </p:nvSpPr>
        <p:spPr>
          <a:xfrm>
            <a:off x="895350" y="704850"/>
            <a:ext cx="1066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0617A"/>
                </a:solidFill>
              </a:defRPr>
            </a:pPr>
            <a:r>
              <a:rPr sz="1350">
                <a:solidFill>
                  <a:srgbClr val="50617A"/>
                </a:solidFill>
              </a:rPr>
              <a:t>集中完成中性点接地、机组状态、接线盒和回路检查等操作。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19790EE-0971-4403-B8F6-DEDA5113A1A9}"/>
              </a:ext>
            </a:extLst>
          </p:cNvPr>
          <p:cNvSpPr>
            <a:spLocks noGrp="1"/>
          </p:cNvSpPr>
          <p:nvPr/>
        </p:nvSpPr>
        <p:spPr>
          <a:xfrm>
            <a:off x="16287750" y="342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EEF4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lide-3-counter">
            <a:extLst>
              <a:ext uri="{FF2B5EF4-FFF2-40B4-BE49-F238E27FC236}">
                <a16:creationId xmlns:a16="http://schemas.microsoft.com/office/drawing/2014/main" id="{7B1CA52C-E74F-4742-89B4-9F6AD6B6642C}"/>
              </a:ext>
            </a:extLst>
          </p:cNvPr>
          <p:cNvSpPr>
            <a:spLocks noGrp="1"/>
          </p:cNvSpPr>
          <p:nvPr/>
        </p:nvSpPr>
        <p:spPr>
          <a:xfrm>
            <a:off x="16611600" y="4191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56D6"/>
                </a:solidFill>
              </a:defRPr>
            </a:pPr>
            <a:r>
              <a:rPr lang="en-US" altLang="zh-CN" sz="1500" b="1" dirty="0">
                <a:solidFill>
                  <a:srgbClr val="2456D6"/>
                </a:solidFill>
              </a:rPr>
              <a:t>5</a:t>
            </a:r>
            <a:r>
              <a:rPr sz="1500" b="1" dirty="0">
                <a:solidFill>
                  <a:srgbClr val="2456D6"/>
                </a:solidFill>
              </a:rPr>
              <a:t> / 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E45C72D-2D2E-4095-A5CC-4BF68E6E6B1F}"/>
              </a:ext>
            </a:extLst>
          </p:cNvPr>
          <p:cNvSpPr>
            <a:spLocks noGrp="1"/>
          </p:cNvSpPr>
          <p:nvPr/>
        </p:nvSpPr>
        <p:spPr>
          <a:xfrm>
            <a:off x="752475" y="1181100"/>
            <a:ext cx="4933950" cy="8801100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190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6775" y="1298803"/>
            <a:ext cx="4705350" cy="8565694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7FC72B44-B611-4F13-B7C1-55460B55C319}"/>
              </a:ext>
            </a:extLst>
          </p:cNvPr>
          <p:cNvSpPr>
            <a:spLocks noGrp="1"/>
          </p:cNvSpPr>
          <p:nvPr/>
        </p:nvSpPr>
        <p:spPr>
          <a:xfrm>
            <a:off x="923925" y="1362075"/>
            <a:ext cx="4581525" cy="323850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18502AE-92A7-4D14-A0AF-3F1BA3D037F2}"/>
              </a:ext>
            </a:extLst>
          </p:cNvPr>
          <p:cNvSpPr>
            <a:spLocks noGrp="1"/>
          </p:cNvSpPr>
          <p:nvPr/>
        </p:nvSpPr>
        <p:spPr>
          <a:xfrm>
            <a:off x="885825" y="13144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highlight-1">
            <a:extLst>
              <a:ext uri="{FF2B5EF4-FFF2-40B4-BE49-F238E27FC236}">
                <a16:creationId xmlns:a16="http://schemas.microsoft.com/office/drawing/2014/main" id="{3C6B2A05-4A8B-4614-B4A9-7F588E0A800A}"/>
              </a:ext>
            </a:extLst>
          </p:cNvPr>
          <p:cNvSpPr>
            <a:spLocks noGrp="1"/>
          </p:cNvSpPr>
          <p:nvPr/>
        </p:nvSpPr>
        <p:spPr>
          <a:xfrm>
            <a:off x="990600" y="13525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C52E399-0B03-4E8E-87CD-C0A3672CFC72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4505325" cy="29527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1BBEA5B-C63C-4B1C-9DE0-24888E43382F}"/>
              </a:ext>
            </a:extLst>
          </p:cNvPr>
          <p:cNvSpPr>
            <a:spLocks noGrp="1"/>
          </p:cNvSpPr>
          <p:nvPr/>
        </p:nvSpPr>
        <p:spPr>
          <a:xfrm>
            <a:off x="885825" y="16764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highlight-2">
            <a:extLst>
              <a:ext uri="{FF2B5EF4-FFF2-40B4-BE49-F238E27FC236}">
                <a16:creationId xmlns:a16="http://schemas.microsoft.com/office/drawing/2014/main" id="{37A86529-652E-4883-B2DE-28DEB292A0EE}"/>
              </a:ext>
            </a:extLst>
          </p:cNvPr>
          <p:cNvSpPr>
            <a:spLocks noGrp="1"/>
          </p:cNvSpPr>
          <p:nvPr/>
        </p:nvSpPr>
        <p:spPr>
          <a:xfrm>
            <a:off x="990600" y="1714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CB7EB8E-5AA3-4BD2-BDFF-86625BF453AD}"/>
              </a:ext>
            </a:extLst>
          </p:cNvPr>
          <p:cNvSpPr>
            <a:spLocks noGrp="1"/>
          </p:cNvSpPr>
          <p:nvPr/>
        </p:nvSpPr>
        <p:spPr>
          <a:xfrm>
            <a:off x="1028700" y="2933700"/>
            <a:ext cx="4238625" cy="219075"/>
          </a:xfrm>
          <a:prstGeom prst="ellipse">
            <a:avLst/>
          </a:prstGeom>
          <a:noFill/>
          <a:ln w="476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CED4B33-28A0-48D7-B653-DFC7DF2DE8AC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highlight-3">
            <a:extLst>
              <a:ext uri="{FF2B5EF4-FFF2-40B4-BE49-F238E27FC236}">
                <a16:creationId xmlns:a16="http://schemas.microsoft.com/office/drawing/2014/main" id="{D9817F51-749C-429A-B75C-AB2472AF1B75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961597F-C55D-4776-8D8C-B3017E2AC6E7}"/>
              </a:ext>
            </a:extLst>
          </p:cNvPr>
          <p:cNvSpPr>
            <a:spLocks noGrp="1"/>
          </p:cNvSpPr>
          <p:nvPr/>
        </p:nvSpPr>
        <p:spPr>
          <a:xfrm>
            <a:off x="1047750" y="3495675"/>
            <a:ext cx="4181475" cy="3124200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A8C1EBF-556B-4519-A368-06D5703F3499}"/>
              </a:ext>
            </a:extLst>
          </p:cNvPr>
          <p:cNvSpPr>
            <a:spLocks noGrp="1"/>
          </p:cNvSpPr>
          <p:nvPr/>
        </p:nvSpPr>
        <p:spPr>
          <a:xfrm>
            <a:off x="914400" y="336232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ighlight-4">
            <a:extLst>
              <a:ext uri="{FF2B5EF4-FFF2-40B4-BE49-F238E27FC236}">
                <a16:creationId xmlns:a16="http://schemas.microsoft.com/office/drawing/2014/main" id="{E373562D-8437-4C83-A1A0-DCF337B8BD63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FAD7548-B5C8-4BEF-A114-D83946B1BABA}"/>
              </a:ext>
            </a:extLst>
          </p:cNvPr>
          <p:cNvSpPr>
            <a:spLocks noGrp="1"/>
          </p:cNvSpPr>
          <p:nvPr/>
        </p:nvSpPr>
        <p:spPr>
          <a:xfrm>
            <a:off x="1047750" y="6696075"/>
            <a:ext cx="4229100" cy="1885950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232B6E0-CFA1-4E12-9F58-8E422898552B}"/>
              </a:ext>
            </a:extLst>
          </p:cNvPr>
          <p:cNvSpPr>
            <a:spLocks noGrp="1"/>
          </p:cNvSpPr>
          <p:nvPr/>
        </p:nvSpPr>
        <p:spPr>
          <a:xfrm>
            <a:off x="914400" y="6622597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highlight-5">
            <a:extLst>
              <a:ext uri="{FF2B5EF4-FFF2-40B4-BE49-F238E27FC236}">
                <a16:creationId xmlns:a16="http://schemas.microsoft.com/office/drawing/2014/main" id="{92A60980-2055-4B24-876C-45A3ACB98347}"/>
              </a:ext>
            </a:extLst>
          </p:cNvPr>
          <p:cNvSpPr>
            <a:spLocks noGrp="1"/>
          </p:cNvSpPr>
          <p:nvPr/>
        </p:nvSpPr>
        <p:spPr>
          <a:xfrm>
            <a:off x="1028700" y="6686551"/>
            <a:ext cx="152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171E203-3328-4038-9DDF-A59805F93F3A}"/>
              </a:ext>
            </a:extLst>
          </p:cNvPr>
          <p:cNvSpPr>
            <a:spLocks noGrp="1"/>
          </p:cNvSpPr>
          <p:nvPr/>
        </p:nvSpPr>
        <p:spPr>
          <a:xfrm>
            <a:off x="933450" y="9363075"/>
            <a:ext cx="4505325" cy="428625"/>
          </a:xfrm>
          <a:prstGeom prst="ellipse">
            <a:avLst/>
          </a:prstGeom>
          <a:noFill/>
          <a:ln w="571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4C4CCC7-2F5B-444B-B6E0-930D797AA861}"/>
              </a:ext>
            </a:extLst>
          </p:cNvPr>
          <p:cNvSpPr>
            <a:spLocks noGrp="1"/>
          </p:cNvSpPr>
          <p:nvPr/>
        </p:nvSpPr>
        <p:spPr>
          <a:xfrm>
            <a:off x="885825" y="9229725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highlight-6">
            <a:extLst>
              <a:ext uri="{FF2B5EF4-FFF2-40B4-BE49-F238E27FC236}">
                <a16:creationId xmlns:a16="http://schemas.microsoft.com/office/drawing/2014/main" id="{46549E5F-A450-4111-A1B4-E0D8FBA169C6}"/>
              </a:ext>
            </a:extLst>
          </p:cNvPr>
          <p:cNvSpPr>
            <a:spLocks noGrp="1"/>
          </p:cNvSpPr>
          <p:nvPr/>
        </p:nvSpPr>
        <p:spPr>
          <a:xfrm>
            <a:off x="990600" y="9277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callout-heading">
            <a:extLst>
              <a:ext uri="{FF2B5EF4-FFF2-40B4-BE49-F238E27FC236}">
                <a16:creationId xmlns:a16="http://schemas.microsoft.com/office/drawing/2014/main" id="{E4C3924C-6F95-40B7-B686-D2FD623CCC27}"/>
              </a:ext>
            </a:extLst>
          </p:cNvPr>
          <p:cNvSpPr>
            <a:spLocks noGrp="1"/>
          </p:cNvSpPr>
          <p:nvPr/>
        </p:nvSpPr>
        <p:spPr>
          <a:xfrm>
            <a:off x="6572250" y="1409700"/>
            <a:ext cx="5095875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rPr sz="1800" b="1">
                <a:solidFill>
                  <a:srgbClr val="E11D48"/>
                </a:solidFill>
              </a:rPr>
              <a:t>圈注说明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EEB69D3-7EE0-499E-8533-6F5400DE44FD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5095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7FEF1A78-A79B-409E-8D2F-CB343E363C3C}"/>
              </a:ext>
            </a:extLst>
          </p:cNvPr>
          <p:cNvSpPr>
            <a:spLocks noGrp="1"/>
          </p:cNvSpPr>
          <p:nvPr/>
        </p:nvSpPr>
        <p:spPr>
          <a:xfrm>
            <a:off x="6743700" y="20002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callout-1-number">
            <a:extLst>
              <a:ext uri="{FF2B5EF4-FFF2-40B4-BE49-F238E27FC236}">
                <a16:creationId xmlns:a16="http://schemas.microsoft.com/office/drawing/2014/main" id="{31319DE2-DBAE-4665-9F33-0F774F86B886}"/>
              </a:ext>
            </a:extLst>
          </p:cNvPr>
          <p:cNvSpPr>
            <a:spLocks noGrp="1"/>
          </p:cNvSpPr>
          <p:nvPr/>
        </p:nvSpPr>
        <p:spPr>
          <a:xfrm>
            <a:off x="6838950" y="2038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callout-1-title">
            <a:extLst>
              <a:ext uri="{FF2B5EF4-FFF2-40B4-BE49-F238E27FC236}">
                <a16:creationId xmlns:a16="http://schemas.microsoft.com/office/drawing/2014/main" id="{CDEA3EE4-77B2-4ABE-97E9-477804E8F45D}"/>
              </a:ext>
            </a:extLst>
          </p:cNvPr>
          <p:cNvSpPr>
            <a:spLocks noGrp="1"/>
          </p:cNvSpPr>
          <p:nvPr/>
        </p:nvSpPr>
        <p:spPr>
          <a:xfrm>
            <a:off x="7219950" y="1981200"/>
            <a:ext cx="4238625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顶部动作区</a:t>
            </a:r>
          </a:p>
        </p:txBody>
      </p:sp>
      <p:sp>
        <p:nvSpPr>
          <p:cNvPr id="34" name="callout-1-body">
            <a:extLst>
              <a:ext uri="{FF2B5EF4-FFF2-40B4-BE49-F238E27FC236}">
                <a16:creationId xmlns:a16="http://schemas.microsoft.com/office/drawing/2014/main" id="{DC74BCB7-3A20-4633-8658-AF4382B94532}"/>
              </a:ext>
            </a:extLst>
          </p:cNvPr>
          <p:cNvSpPr>
            <a:spLocks noGrp="1"/>
          </p:cNvSpPr>
          <p:nvPr/>
        </p:nvSpPr>
        <p:spPr>
          <a:xfrm>
            <a:off x="7219950" y="2324100"/>
            <a:ext cx="425767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显示当前模式、管理员状态，并提供重置与退出入口</a:t>
            </a:r>
            <a:r>
              <a:rPr sz="1275" dirty="0">
                <a:solidFill>
                  <a:srgbClr val="50617A"/>
                </a:solidFill>
              </a:rPr>
              <a:t>。</a:t>
            </a:r>
            <a:endParaRPr lang="en-US" sz="1275" dirty="0">
              <a:solidFill>
                <a:srgbClr val="50617A"/>
              </a:solidFill>
            </a:endParaRPr>
          </a:p>
          <a:p>
            <a:pPr>
              <a:defRPr sz="1275">
                <a:solidFill>
                  <a:srgbClr val="50617A"/>
                </a:solidFill>
              </a:defRPr>
            </a:pPr>
            <a:r>
              <a:rPr lang="zh-CN" altLang="en-US" sz="1275" dirty="0">
                <a:solidFill>
                  <a:srgbClr val="50617A"/>
                </a:solidFill>
              </a:rPr>
              <a:t>管理员状态下可自由选择查看不同步骤</a:t>
            </a:r>
            <a:endParaRPr sz="1275" dirty="0">
              <a:solidFill>
                <a:srgbClr val="50617A"/>
              </a:solidFill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311549E-F9C9-4008-B5F8-3D83732ECEED}"/>
              </a:ext>
            </a:extLst>
          </p:cNvPr>
          <p:cNvSpPr>
            <a:spLocks noGrp="1"/>
          </p:cNvSpPr>
          <p:nvPr/>
        </p:nvSpPr>
        <p:spPr>
          <a:xfrm>
            <a:off x="11991975" y="1809750"/>
            <a:ext cx="5095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A18668B3-1655-44F0-A6AF-4C0BB3E2E088}"/>
              </a:ext>
            </a:extLst>
          </p:cNvPr>
          <p:cNvSpPr>
            <a:spLocks noGrp="1"/>
          </p:cNvSpPr>
          <p:nvPr/>
        </p:nvSpPr>
        <p:spPr>
          <a:xfrm>
            <a:off x="12163425" y="20002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callout-2-number">
            <a:extLst>
              <a:ext uri="{FF2B5EF4-FFF2-40B4-BE49-F238E27FC236}">
                <a16:creationId xmlns:a16="http://schemas.microsoft.com/office/drawing/2014/main" id="{0105D514-4098-4B5E-BE59-DF0A6F77F084}"/>
              </a:ext>
            </a:extLst>
          </p:cNvPr>
          <p:cNvSpPr>
            <a:spLocks noGrp="1"/>
          </p:cNvSpPr>
          <p:nvPr/>
        </p:nvSpPr>
        <p:spPr>
          <a:xfrm>
            <a:off x="12268200" y="2038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2-title">
            <a:extLst>
              <a:ext uri="{FF2B5EF4-FFF2-40B4-BE49-F238E27FC236}">
                <a16:creationId xmlns:a16="http://schemas.microsoft.com/office/drawing/2014/main" id="{AA286343-3D2F-4FBE-93A6-C99F21F6017E}"/>
              </a:ext>
            </a:extLst>
          </p:cNvPr>
          <p:cNvSpPr>
            <a:spLocks noGrp="1"/>
          </p:cNvSpPr>
          <p:nvPr/>
        </p:nvSpPr>
        <p:spPr>
          <a:xfrm>
            <a:off x="12649200" y="1981200"/>
            <a:ext cx="4238625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步骤导航</a:t>
            </a:r>
          </a:p>
        </p:txBody>
      </p:sp>
      <p:sp>
        <p:nvSpPr>
          <p:cNvPr id="39" name="callout-2-body">
            <a:extLst>
              <a:ext uri="{FF2B5EF4-FFF2-40B4-BE49-F238E27FC236}">
                <a16:creationId xmlns:a16="http://schemas.microsoft.com/office/drawing/2014/main" id="{95FF7970-4D73-474C-977E-E80F4EB8C19C}"/>
              </a:ext>
            </a:extLst>
          </p:cNvPr>
          <p:cNvSpPr>
            <a:spLocks noGrp="1"/>
          </p:cNvSpPr>
          <p:nvPr/>
        </p:nvSpPr>
        <p:spPr>
          <a:xfrm>
            <a:off x="12649200" y="2324100"/>
            <a:ext cx="425767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按</a:t>
            </a:r>
            <a:r>
              <a:rPr lang="zh-CN" altLang="en-US" sz="1275" dirty="0">
                <a:solidFill>
                  <a:srgbClr val="50617A"/>
                </a:solidFill>
              </a:rPr>
              <a:t>回路</a:t>
            </a:r>
            <a:r>
              <a:rPr sz="1275" dirty="0">
                <a:solidFill>
                  <a:srgbClr val="50617A"/>
                </a:solidFill>
              </a:rPr>
              <a:t>、</a:t>
            </a:r>
            <a:r>
              <a:rPr sz="1275" dirty="0" err="1">
                <a:solidFill>
                  <a:srgbClr val="50617A"/>
                </a:solidFill>
              </a:rPr>
              <a:t>电压、相序、压差、同步等步骤推进检查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AAD7D2B-A59E-49D1-BBE5-D0767ACE71E1}"/>
              </a:ext>
            </a:extLst>
          </p:cNvPr>
          <p:cNvSpPr>
            <a:spLocks noGrp="1"/>
          </p:cNvSpPr>
          <p:nvPr/>
        </p:nvSpPr>
        <p:spPr>
          <a:xfrm>
            <a:off x="6572250" y="3505200"/>
            <a:ext cx="5095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D428AC3-76AF-4A8C-8ED5-0CE4DC80BABE}"/>
              </a:ext>
            </a:extLst>
          </p:cNvPr>
          <p:cNvSpPr>
            <a:spLocks noGrp="1"/>
          </p:cNvSpPr>
          <p:nvPr/>
        </p:nvSpPr>
        <p:spPr>
          <a:xfrm>
            <a:off x="6743700" y="36957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callout-3-number">
            <a:extLst>
              <a:ext uri="{FF2B5EF4-FFF2-40B4-BE49-F238E27FC236}">
                <a16:creationId xmlns:a16="http://schemas.microsoft.com/office/drawing/2014/main" id="{3B9FF105-A611-4C84-8C9B-32D75E54E1E3}"/>
              </a:ext>
            </a:extLst>
          </p:cNvPr>
          <p:cNvSpPr>
            <a:spLocks noGrp="1"/>
          </p:cNvSpPr>
          <p:nvPr/>
        </p:nvSpPr>
        <p:spPr>
          <a:xfrm>
            <a:off x="6838950" y="3733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callout-3-title">
            <a:extLst>
              <a:ext uri="{FF2B5EF4-FFF2-40B4-BE49-F238E27FC236}">
                <a16:creationId xmlns:a16="http://schemas.microsoft.com/office/drawing/2014/main" id="{F64AD50B-9352-42B4-861D-60057A2966B9}"/>
              </a:ext>
            </a:extLst>
          </p:cNvPr>
          <p:cNvSpPr>
            <a:spLocks noGrp="1"/>
          </p:cNvSpPr>
          <p:nvPr/>
        </p:nvSpPr>
        <p:spPr>
          <a:xfrm>
            <a:off x="7219950" y="3676650"/>
            <a:ext cx="4238625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中性点接地</a:t>
            </a:r>
          </a:p>
        </p:txBody>
      </p:sp>
      <p:sp>
        <p:nvSpPr>
          <p:cNvPr id="44" name="callout-3-body">
            <a:extLst>
              <a:ext uri="{FF2B5EF4-FFF2-40B4-BE49-F238E27FC236}">
                <a16:creationId xmlns:a16="http://schemas.microsoft.com/office/drawing/2014/main" id="{C517B527-40C9-4EA1-B0C0-1C02CA9FD937}"/>
              </a:ext>
            </a:extLst>
          </p:cNvPr>
          <p:cNvSpPr>
            <a:spLocks noGrp="1"/>
          </p:cNvSpPr>
          <p:nvPr/>
        </p:nvSpPr>
        <p:spPr>
          <a:xfrm>
            <a:off x="7219950" y="4019550"/>
            <a:ext cx="425767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设置断开、小电阻或直接接地，影响后续测量条件。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2EAD5412-5796-4B15-A45F-A7DFB23AA576}"/>
              </a:ext>
            </a:extLst>
          </p:cNvPr>
          <p:cNvSpPr>
            <a:spLocks noGrp="1"/>
          </p:cNvSpPr>
          <p:nvPr/>
        </p:nvSpPr>
        <p:spPr>
          <a:xfrm>
            <a:off x="11991975" y="3505200"/>
            <a:ext cx="5095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07B0E98D-4429-4516-AAA9-216DC6C9F6FC}"/>
              </a:ext>
            </a:extLst>
          </p:cNvPr>
          <p:cNvSpPr>
            <a:spLocks noGrp="1"/>
          </p:cNvSpPr>
          <p:nvPr/>
        </p:nvSpPr>
        <p:spPr>
          <a:xfrm>
            <a:off x="12163425" y="369570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callout-4-number">
            <a:extLst>
              <a:ext uri="{FF2B5EF4-FFF2-40B4-BE49-F238E27FC236}">
                <a16:creationId xmlns:a16="http://schemas.microsoft.com/office/drawing/2014/main" id="{DFAB41C7-8AB8-4FE9-91CA-27B168E2270E}"/>
              </a:ext>
            </a:extLst>
          </p:cNvPr>
          <p:cNvSpPr>
            <a:spLocks noGrp="1"/>
          </p:cNvSpPr>
          <p:nvPr/>
        </p:nvSpPr>
        <p:spPr>
          <a:xfrm>
            <a:off x="12268200" y="3733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callout-4-title">
            <a:extLst>
              <a:ext uri="{FF2B5EF4-FFF2-40B4-BE49-F238E27FC236}">
                <a16:creationId xmlns:a16="http://schemas.microsoft.com/office/drawing/2014/main" id="{9D51EC17-4195-49C1-8AFE-FBDEC1BA2F77}"/>
              </a:ext>
            </a:extLst>
          </p:cNvPr>
          <p:cNvSpPr>
            <a:spLocks noGrp="1"/>
          </p:cNvSpPr>
          <p:nvPr/>
        </p:nvSpPr>
        <p:spPr>
          <a:xfrm>
            <a:off x="12649200" y="3676650"/>
            <a:ext cx="4238625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Gen1 / Gen2 控制块</a:t>
            </a:r>
          </a:p>
        </p:txBody>
      </p:sp>
      <p:sp>
        <p:nvSpPr>
          <p:cNvPr id="49" name="callout-4-body">
            <a:extLst>
              <a:ext uri="{FF2B5EF4-FFF2-40B4-BE49-F238E27FC236}">
                <a16:creationId xmlns:a16="http://schemas.microsoft.com/office/drawing/2014/main" id="{D9A4F3DC-624B-4BB0-A3F8-8C754F68E425}"/>
              </a:ext>
            </a:extLst>
          </p:cNvPr>
          <p:cNvSpPr>
            <a:spLocks noGrp="1"/>
          </p:cNvSpPr>
          <p:nvPr/>
        </p:nvSpPr>
        <p:spPr>
          <a:xfrm>
            <a:off x="12649200" y="4019550"/>
            <a:ext cx="425767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配置 PCC 模式、开关柜位置，并执行合闸测试。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BEF6AE3D-A9FE-431B-BC71-F7485AEE6E74}"/>
              </a:ext>
            </a:extLst>
          </p:cNvPr>
          <p:cNvSpPr>
            <a:spLocks noGrp="1"/>
          </p:cNvSpPr>
          <p:nvPr/>
        </p:nvSpPr>
        <p:spPr>
          <a:xfrm>
            <a:off x="6572250" y="5200650"/>
            <a:ext cx="5095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38C58BF9-F3CE-422C-8569-471AB3F25E9A}"/>
              </a:ext>
            </a:extLst>
          </p:cNvPr>
          <p:cNvSpPr>
            <a:spLocks noGrp="1"/>
          </p:cNvSpPr>
          <p:nvPr/>
        </p:nvSpPr>
        <p:spPr>
          <a:xfrm>
            <a:off x="6743700" y="53911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callout-5-number">
            <a:extLst>
              <a:ext uri="{FF2B5EF4-FFF2-40B4-BE49-F238E27FC236}">
                <a16:creationId xmlns:a16="http://schemas.microsoft.com/office/drawing/2014/main" id="{2988DFC0-240E-4270-A4A6-0A0E7835C509}"/>
              </a:ext>
            </a:extLst>
          </p:cNvPr>
          <p:cNvSpPr>
            <a:spLocks noGrp="1"/>
          </p:cNvSpPr>
          <p:nvPr/>
        </p:nvSpPr>
        <p:spPr>
          <a:xfrm>
            <a:off x="6838950" y="54292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callout-5-title">
            <a:extLst>
              <a:ext uri="{FF2B5EF4-FFF2-40B4-BE49-F238E27FC236}">
                <a16:creationId xmlns:a16="http://schemas.microsoft.com/office/drawing/2014/main" id="{7B5C932C-19CD-4ED2-A6CD-4CF1D0AAE97F}"/>
              </a:ext>
            </a:extLst>
          </p:cNvPr>
          <p:cNvSpPr>
            <a:spLocks noGrp="1"/>
          </p:cNvSpPr>
          <p:nvPr/>
        </p:nvSpPr>
        <p:spPr>
          <a:xfrm>
            <a:off x="7219950" y="5372100"/>
            <a:ext cx="4238625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 dirty="0" err="1">
                <a:solidFill>
                  <a:srgbClr val="0F172A"/>
                </a:solidFill>
              </a:rPr>
              <a:t>接线与接线盒</a:t>
            </a:r>
            <a:endParaRPr sz="1575" b="1" dirty="0">
              <a:solidFill>
                <a:srgbClr val="0F172A"/>
              </a:solidFill>
            </a:endParaRPr>
          </a:p>
        </p:txBody>
      </p:sp>
      <p:sp>
        <p:nvSpPr>
          <p:cNvPr id="54" name="callout-5-body">
            <a:extLst>
              <a:ext uri="{FF2B5EF4-FFF2-40B4-BE49-F238E27FC236}">
                <a16:creationId xmlns:a16="http://schemas.microsoft.com/office/drawing/2014/main" id="{FA13D1A6-EB37-487B-B228-66F915411BD5}"/>
              </a:ext>
            </a:extLst>
          </p:cNvPr>
          <p:cNvSpPr>
            <a:spLocks noGrp="1"/>
          </p:cNvSpPr>
          <p:nvPr/>
        </p:nvSpPr>
        <p:spPr>
          <a:xfrm>
            <a:off x="7219950" y="5715000"/>
            <a:ext cx="425767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 dirty="0" err="1">
                <a:solidFill>
                  <a:srgbClr val="50617A"/>
                </a:solidFill>
              </a:rPr>
              <a:t>记录</a:t>
            </a:r>
            <a:r>
              <a:rPr lang="zh-CN" altLang="en-US" sz="1275" dirty="0">
                <a:solidFill>
                  <a:srgbClr val="50617A"/>
                </a:solidFill>
              </a:rPr>
              <a:t>不同</a:t>
            </a:r>
            <a:r>
              <a:rPr sz="1275" dirty="0" err="1">
                <a:solidFill>
                  <a:srgbClr val="50617A"/>
                </a:solidFill>
              </a:rPr>
              <a:t>回路测试结果，检查</a:t>
            </a:r>
            <a:r>
              <a:rPr sz="1275" dirty="0">
                <a:solidFill>
                  <a:srgbClr val="50617A"/>
                </a:solidFill>
              </a:rPr>
              <a:t> G1/G2、PT1/PT3 </a:t>
            </a:r>
            <a:r>
              <a:rPr sz="1275" dirty="0" err="1">
                <a:solidFill>
                  <a:srgbClr val="50617A"/>
                </a:solidFill>
              </a:rPr>
              <a:t>等接线盒</a:t>
            </a:r>
            <a:r>
              <a:rPr sz="1275" dirty="0">
                <a:solidFill>
                  <a:srgbClr val="50617A"/>
                </a:solidFill>
              </a:rPr>
              <a:t>。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9E0CF4B-961D-4AF9-A1F1-1E632365E082}"/>
              </a:ext>
            </a:extLst>
          </p:cNvPr>
          <p:cNvSpPr>
            <a:spLocks noGrp="1"/>
          </p:cNvSpPr>
          <p:nvPr/>
        </p:nvSpPr>
        <p:spPr>
          <a:xfrm>
            <a:off x="11991975" y="5200650"/>
            <a:ext cx="5095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9050">
            <a:solidFill>
              <a:srgbClr val="D9E3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B3D0FAD-B74F-4D55-88D5-760AC1933496}"/>
              </a:ext>
            </a:extLst>
          </p:cNvPr>
          <p:cNvSpPr>
            <a:spLocks noGrp="1"/>
          </p:cNvSpPr>
          <p:nvPr/>
        </p:nvSpPr>
        <p:spPr>
          <a:xfrm>
            <a:off x="12163425" y="5391150"/>
            <a:ext cx="342900" cy="34290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callout-6-number">
            <a:extLst>
              <a:ext uri="{FF2B5EF4-FFF2-40B4-BE49-F238E27FC236}">
                <a16:creationId xmlns:a16="http://schemas.microsoft.com/office/drawing/2014/main" id="{FAB34797-A54A-48F8-8F45-9176D9BC027A}"/>
              </a:ext>
            </a:extLst>
          </p:cNvPr>
          <p:cNvSpPr>
            <a:spLocks noGrp="1"/>
          </p:cNvSpPr>
          <p:nvPr/>
        </p:nvSpPr>
        <p:spPr>
          <a:xfrm>
            <a:off x="12268200" y="54292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8" name="callout-6-title">
            <a:extLst>
              <a:ext uri="{FF2B5EF4-FFF2-40B4-BE49-F238E27FC236}">
                <a16:creationId xmlns:a16="http://schemas.microsoft.com/office/drawing/2014/main" id="{A838DE74-FA56-4793-B032-1F076A17D26D}"/>
              </a:ext>
            </a:extLst>
          </p:cNvPr>
          <p:cNvSpPr>
            <a:spLocks noGrp="1"/>
          </p:cNvSpPr>
          <p:nvPr/>
        </p:nvSpPr>
        <p:spPr>
          <a:xfrm>
            <a:off x="12649200" y="5372100"/>
            <a:ext cx="4238625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本步完成</a:t>
            </a:r>
          </a:p>
        </p:txBody>
      </p:sp>
      <p:sp>
        <p:nvSpPr>
          <p:cNvPr id="59" name="callout-6-body">
            <a:extLst>
              <a:ext uri="{FF2B5EF4-FFF2-40B4-BE49-F238E27FC236}">
                <a16:creationId xmlns:a16="http://schemas.microsoft.com/office/drawing/2014/main" id="{5170711D-1661-4037-B7A9-D76BBC840C71}"/>
              </a:ext>
            </a:extLst>
          </p:cNvPr>
          <p:cNvSpPr>
            <a:spLocks noGrp="1"/>
          </p:cNvSpPr>
          <p:nvPr/>
        </p:nvSpPr>
        <p:spPr>
          <a:xfrm>
            <a:off x="12649200" y="5715000"/>
            <a:ext cx="425767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0617A"/>
                </a:solidFill>
              </a:defRPr>
            </a:pPr>
            <a:r>
              <a:rPr sz="1275">
                <a:solidFill>
                  <a:srgbClr val="50617A"/>
                </a:solidFill>
              </a:rPr>
              <a:t>底部按钮用于退出回路检查或确认当前步骤通过。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1F18C2B-5557-4632-9708-FCE869FFF5F6}"/>
              </a:ext>
            </a:extLst>
          </p:cNvPr>
          <p:cNvSpPr>
            <a:spLocks noGrp="1"/>
          </p:cNvSpPr>
          <p:nvPr/>
        </p:nvSpPr>
        <p:spPr>
          <a:xfrm>
            <a:off x="0" y="9963150"/>
            <a:ext cx="18288000" cy="323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1" name="footer">
            <a:extLst>
              <a:ext uri="{FF2B5EF4-FFF2-40B4-BE49-F238E27FC236}">
                <a16:creationId xmlns:a16="http://schemas.microsoft.com/office/drawing/2014/main" id="{43A9071D-86A7-4C70-96BB-3C431E4E8EB6}"/>
              </a:ext>
            </a:extLst>
          </p:cNvPr>
          <p:cNvSpPr>
            <a:spLocks noGrp="1"/>
          </p:cNvSpPr>
          <p:nvPr/>
        </p:nvSpPr>
        <p:spPr>
          <a:xfrm>
            <a:off x="685800" y="100393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三相并网仿真教学系统界面介绍</a:t>
            </a:r>
          </a:p>
        </p:txBody>
      </p:sp>
    </p:spTree>
    <p:extLst>
      <p:ext uri="{BB962C8B-B14F-4D97-AF65-F5344CB8AC3E}">
        <p14:creationId xmlns:p14="http://schemas.microsoft.com/office/powerpoint/2010/main" val="390505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324</Words>
  <Application>Microsoft Macintosh PowerPoint</Application>
  <DocSecurity>0</DocSecurity>
  <PresentationFormat>自定义</PresentationFormat>
  <Paragraphs>126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Haoran CHENG</cp:lastModifiedBy>
  <cp:revision>5</cp:revision>
  <dcterms:created xsi:type="dcterms:W3CDTF">2026-04-29T08:29:43Z</dcterms:created>
  <dcterms:modified xsi:type="dcterms:W3CDTF">2026-05-08T01:51:32Z</dcterms:modified>
</cp:coreProperties>
</file>